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62" r:id="rId4"/>
    <p:sldId id="258" r:id="rId5"/>
    <p:sldId id="259" r:id="rId6"/>
    <p:sldId id="260" r:id="rId7"/>
    <p:sldId id="261" r:id="rId8"/>
    <p:sldId id="276" r:id="rId9"/>
    <p:sldId id="270" r:id="rId10"/>
    <p:sldId id="271" r:id="rId11"/>
    <p:sldId id="272" r:id="rId12"/>
    <p:sldId id="273" r:id="rId13"/>
    <p:sldId id="274" r:id="rId14"/>
    <p:sldId id="275"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1280" y="4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168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E4221-D348-40C2-C0A4-A95491D54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A72487-A1D9-BA27-9770-76A3CA2DA4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1329CD-7EBE-3BB9-ADA0-0C736C1FBB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CB76D9-6007-2B86-10A0-BA52235BFF8F}"/>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0207928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A8A84-84B8-CE57-42D3-427C5EDD2B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A8372E-04BC-B823-8FE0-A2C218BC35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0F331-AB21-6C31-1981-A531D94F0D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762865-94F7-B06A-0CE2-AF5289B85E92}"/>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949789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5A79B-EDB0-86A8-3922-136965657C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55FA73-29DC-B67E-19FF-41F7E5643C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A52360-DCC0-B4DA-3AC2-099B45171E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392B7D-A189-1546-F0C8-413875E1A090}"/>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407554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03504" y="1682871"/>
            <a:ext cx="3364992" cy="856123"/>
          </a:xfrm>
          <a:solidFill>
            <a:srgbClr val="FFFFFF"/>
          </a:solidFill>
          <a:ln>
            <a:solidFill>
              <a:srgbClr val="404040"/>
            </a:solidFill>
          </a:ln>
        </p:spPr>
        <p:txBody>
          <a:bodyPr anchor="ctr" anchorCtr="1">
            <a:normAutofit/>
          </a:bodyPr>
          <a:lstStyle>
            <a:lvl1pPr>
              <a:defRPr sz="165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5052060" y="603504"/>
            <a:ext cx="3611880" cy="3936492"/>
          </a:xfrm>
        </p:spPr>
        <p:txBody>
          <a:bodyPr>
            <a:normAutofit/>
          </a:bodyPr>
          <a:lstStyle>
            <a:lvl1pPr>
              <a:defRPr sz="1425">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6676" y="2662439"/>
            <a:ext cx="2846070" cy="1645527"/>
          </a:xfr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9" name="Date Placeholder 8"/>
          <p:cNvSpPr>
            <a:spLocks noGrp="1"/>
          </p:cNvSpPr>
          <p:nvPr>
            <p:ph type="dt" sz="half" idx="10"/>
          </p:nvPr>
        </p:nvSpPr>
        <p:spPr/>
        <p:txBody>
          <a:bodyPr/>
          <a:lstStyle/>
          <a:p>
            <a:fld id="{9707F9DD-32EA-4138-8265-878A3C575A7B}" type="datetimeFigureOut">
              <a:rPr lang="en-US" smtClean="0"/>
              <a:t>6/1/2026</a:t>
            </a:fld>
            <a:endParaRPr lang="en-US"/>
          </a:p>
        </p:txBody>
      </p:sp>
      <p:sp>
        <p:nvSpPr>
          <p:cNvPr id="10" name="Footer Placeholder 9"/>
          <p:cNvSpPr>
            <a:spLocks noGrp="1"/>
          </p:cNvSpPr>
          <p:nvPr>
            <p:ph type="ftr" sz="quarter" idx="11"/>
          </p:nvPr>
        </p:nvSpPr>
        <p:spPr>
          <a:xfrm>
            <a:off x="603504" y="4677156"/>
            <a:ext cx="3843598" cy="24003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E9918D3F-20B0-44C0-BB37-F8297FB5F350}" type="slidenum">
              <a:rPr lang="en-US" smtClean="0"/>
              <a:t>‹#›</a:t>
            </a:fld>
            <a:endParaRPr lang="en-US"/>
          </a:p>
        </p:txBody>
      </p:sp>
    </p:spTree>
    <p:extLst>
      <p:ext uri="{BB962C8B-B14F-4D97-AF65-F5344CB8AC3E}">
        <p14:creationId xmlns:p14="http://schemas.microsoft.com/office/powerpoint/2010/main" val="33993365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33" name="Shape 6">
            <a:extLst>
              <a:ext uri="{FF2B5EF4-FFF2-40B4-BE49-F238E27FC236}">
                <a16:creationId xmlns:a16="http://schemas.microsoft.com/office/drawing/2014/main" id="{0B6E9292-6BDD-F7C6-2D79-DAF6DD76D199}"/>
              </a:ext>
            </a:extLst>
          </p:cNvPr>
          <p:cNvSpPr/>
          <p:nvPr/>
        </p:nvSpPr>
        <p:spPr>
          <a:xfrm>
            <a:off x="82296" y="0"/>
            <a:ext cx="8979408" cy="5143500"/>
          </a:xfrm>
          <a:prstGeom prst="rect">
            <a:avLst/>
          </a:prstGeom>
          <a:solidFill>
            <a:srgbClr val="FFF8E1"/>
          </a:solidFill>
          <a:ln w="12700">
            <a:solidFill>
              <a:srgbClr val="F7B731"/>
            </a:solidFill>
            <a:prstDash val="solid"/>
          </a:ln>
        </p:spPr>
        <p:txBody>
          <a:bodyPr/>
          <a:lstStyle/>
          <a:p>
            <a:endParaRPr lang="en-IN" dirty="0"/>
          </a:p>
        </p:txBody>
      </p:sp>
      <p:sp>
        <p:nvSpPr>
          <p:cNvPr id="2" name="Shape 0"/>
          <p:cNvSpPr/>
          <p:nvPr/>
        </p:nvSpPr>
        <p:spPr>
          <a:xfrm>
            <a:off x="0" y="0"/>
            <a:ext cx="164592" cy="5143500"/>
          </a:xfrm>
          <a:prstGeom prst="rect">
            <a:avLst/>
          </a:prstGeom>
          <a:solidFill>
            <a:srgbClr val="02C39A"/>
          </a:solidFill>
          <a:ln w="12700">
            <a:solidFill>
              <a:srgbClr val="02C39A"/>
            </a:solidFill>
            <a:prstDash val="solid"/>
          </a:ln>
        </p:spPr>
      </p:sp>
      <p:sp>
        <p:nvSpPr>
          <p:cNvPr id="4" name="Text 2"/>
          <p:cNvSpPr/>
          <p:nvPr/>
        </p:nvSpPr>
        <p:spPr>
          <a:xfrm>
            <a:off x="365760" y="209712"/>
            <a:ext cx="8412480" cy="1188720"/>
          </a:xfrm>
          <a:prstGeom prst="rect">
            <a:avLst/>
          </a:prstGeom>
          <a:noFill/>
          <a:ln/>
        </p:spPr>
        <p:txBody>
          <a:bodyPr wrap="square" lIns="0" tIns="0" rIns="0" bIns="0" rtlCol="0" anchor="ctr"/>
          <a:lstStyle/>
          <a:p>
            <a:pPr marL="0" indent="0" algn="l">
              <a:buNone/>
            </a:pPr>
            <a:r>
              <a:rPr lang="en-US" sz="6400" b="1" dirty="0">
                <a:latin typeface="Georgia" pitchFamily="34" charset="0"/>
                <a:ea typeface="Georgia" pitchFamily="34" charset="-122"/>
                <a:cs typeface="Georgia" pitchFamily="34" charset="-120"/>
              </a:rPr>
              <a:t>PetCare </a:t>
            </a:r>
            <a:endParaRPr lang="en-US" sz="6400" dirty="0"/>
          </a:p>
        </p:txBody>
      </p:sp>
      <p:sp>
        <p:nvSpPr>
          <p:cNvPr id="5" name="Text 3"/>
          <p:cNvSpPr/>
          <p:nvPr/>
        </p:nvSpPr>
        <p:spPr>
          <a:xfrm>
            <a:off x="2228248" y="1178976"/>
            <a:ext cx="8412480" cy="548640"/>
          </a:xfrm>
          <a:prstGeom prst="rect">
            <a:avLst/>
          </a:prstGeom>
          <a:noFill/>
          <a:ln/>
        </p:spPr>
        <p:txBody>
          <a:bodyPr wrap="square" lIns="0" tIns="0" rIns="0" bIns="0" rtlCol="0" anchor="ctr"/>
          <a:lstStyle/>
          <a:p>
            <a:pPr marL="0" indent="0" algn="l">
              <a:buNone/>
            </a:pPr>
            <a:r>
              <a:rPr lang="en-US" sz="2100" i="1" dirty="0">
                <a:solidFill>
                  <a:srgbClr val="C00000"/>
                </a:solidFill>
              </a:rPr>
              <a:t>Smart Veterinary Clinic &amp; Pet Health Management System</a:t>
            </a:r>
            <a:endParaRPr lang="en-US" sz="2100" dirty="0">
              <a:solidFill>
                <a:srgbClr val="C00000"/>
              </a:solidFill>
            </a:endParaRPr>
          </a:p>
        </p:txBody>
      </p:sp>
      <p:sp>
        <p:nvSpPr>
          <p:cNvPr id="8" name="Text 6"/>
          <p:cNvSpPr/>
          <p:nvPr/>
        </p:nvSpPr>
        <p:spPr>
          <a:xfrm>
            <a:off x="2101669" y="2193960"/>
            <a:ext cx="6858000" cy="347472"/>
          </a:xfrm>
          <a:prstGeom prst="rect">
            <a:avLst/>
          </a:prstGeom>
          <a:noFill/>
          <a:ln/>
        </p:spPr>
        <p:txBody>
          <a:bodyPr wrap="square" lIns="0" tIns="0" rIns="0" bIns="0" rtlCol="0" anchor="ctr"/>
          <a:lstStyle/>
          <a:p>
            <a:pPr marL="0" indent="0" algn="l">
              <a:buNone/>
            </a:pPr>
            <a:r>
              <a:rPr lang="en-US" sz="1100" dirty="0"/>
              <a:t>24</a:t>
            </a:r>
          </a:p>
        </p:txBody>
      </p:sp>
      <p:sp>
        <p:nvSpPr>
          <p:cNvPr id="10" name="Text 8"/>
          <p:cNvSpPr/>
          <p:nvPr/>
        </p:nvSpPr>
        <p:spPr>
          <a:xfrm>
            <a:off x="2040255" y="2734564"/>
            <a:ext cx="6858000" cy="347472"/>
          </a:xfrm>
          <a:prstGeom prst="rect">
            <a:avLst/>
          </a:prstGeom>
          <a:noFill/>
          <a:ln/>
        </p:spPr>
        <p:txBody>
          <a:bodyPr wrap="square" lIns="0" tIns="0" rIns="0" bIns="0" rtlCol="0" anchor="ctr"/>
          <a:lstStyle/>
          <a:p>
            <a:pPr marL="0" indent="0" algn="l">
              <a:buNone/>
            </a:pPr>
            <a:r>
              <a:rPr lang="en-US" sz="1200" dirty="0"/>
              <a:t>Sai Nikhil Vukka_2500032630 (CSE )</a:t>
            </a:r>
          </a:p>
          <a:p>
            <a:pPr marL="0" indent="0" algn="l">
              <a:buNone/>
            </a:pPr>
            <a:r>
              <a:rPr lang="en-US" sz="1200" dirty="0"/>
              <a:t>G.V Sai Manikanta_2500080122 (AI&amp;DS)</a:t>
            </a:r>
          </a:p>
          <a:p>
            <a:pPr marL="0" indent="0" algn="l">
              <a:buNone/>
            </a:pPr>
            <a:r>
              <a:rPr lang="en-US" sz="1200" dirty="0"/>
              <a:t>R.S.V.D.S Mohieswar_2500080124(AI&amp;DS)</a:t>
            </a:r>
          </a:p>
        </p:txBody>
      </p:sp>
      <p:sp>
        <p:nvSpPr>
          <p:cNvPr id="12" name="Text 10"/>
          <p:cNvSpPr/>
          <p:nvPr/>
        </p:nvSpPr>
        <p:spPr>
          <a:xfrm>
            <a:off x="1920240" y="3580384"/>
            <a:ext cx="6858000" cy="347472"/>
          </a:xfrm>
          <a:prstGeom prst="rect">
            <a:avLst/>
          </a:prstGeom>
          <a:noFill/>
          <a:ln/>
        </p:spPr>
        <p:txBody>
          <a:bodyPr wrap="square" lIns="0" tIns="0" rIns="0" bIns="0" rtlCol="0" anchor="ctr"/>
          <a:lstStyle/>
          <a:p>
            <a:pPr marL="0" indent="0" algn="l">
              <a:buNone/>
            </a:pPr>
            <a:endParaRPr lang="en-US" sz="1000" dirty="0"/>
          </a:p>
        </p:txBody>
      </p:sp>
      <p:sp>
        <p:nvSpPr>
          <p:cNvPr id="14" name="Text 12"/>
          <p:cNvSpPr/>
          <p:nvPr/>
        </p:nvSpPr>
        <p:spPr>
          <a:xfrm>
            <a:off x="2040255" y="3613573"/>
            <a:ext cx="6858000" cy="347472"/>
          </a:xfrm>
          <a:prstGeom prst="rect">
            <a:avLst/>
          </a:prstGeom>
          <a:noFill/>
          <a:ln/>
        </p:spPr>
        <p:txBody>
          <a:bodyPr wrap="square" lIns="0" tIns="0" rIns="0" bIns="0" rtlCol="0" anchor="ctr"/>
          <a:lstStyle/>
          <a:p>
            <a:pPr marL="0" indent="0" algn="l">
              <a:buNone/>
            </a:pPr>
            <a:r>
              <a:rPr lang="en-US" sz="1100" dirty="0"/>
              <a:t>Java </a:t>
            </a:r>
          </a:p>
        </p:txBody>
      </p:sp>
      <p:sp>
        <p:nvSpPr>
          <p:cNvPr id="16" name="Text 14"/>
          <p:cNvSpPr/>
          <p:nvPr/>
        </p:nvSpPr>
        <p:spPr>
          <a:xfrm>
            <a:off x="2040255" y="4329973"/>
            <a:ext cx="6858000" cy="347472"/>
          </a:xfrm>
          <a:prstGeom prst="rect">
            <a:avLst/>
          </a:prstGeom>
          <a:noFill/>
          <a:ln/>
        </p:spPr>
        <p:txBody>
          <a:bodyPr wrap="square" lIns="0" tIns="0" rIns="0" bIns="0" rtlCol="0" anchor="ctr"/>
          <a:lstStyle/>
          <a:p>
            <a:pPr marL="0" indent="0" algn="l">
              <a:buNone/>
            </a:pPr>
            <a:r>
              <a:rPr lang="en-US" sz="1000" dirty="0"/>
              <a:t>30-05-2026</a:t>
            </a:r>
          </a:p>
        </p:txBody>
      </p:sp>
      <p:sp>
        <p:nvSpPr>
          <p:cNvPr id="22" name="TextBox 21">
            <a:extLst>
              <a:ext uri="{FF2B5EF4-FFF2-40B4-BE49-F238E27FC236}">
                <a16:creationId xmlns:a16="http://schemas.microsoft.com/office/drawing/2014/main" id="{7933117E-DC08-7A7C-7534-E88BAE970498}"/>
              </a:ext>
            </a:extLst>
          </p:cNvPr>
          <p:cNvSpPr txBox="1"/>
          <p:nvPr/>
        </p:nvSpPr>
        <p:spPr>
          <a:xfrm>
            <a:off x="1973660" y="3316633"/>
            <a:ext cx="4633912" cy="261610"/>
          </a:xfrm>
          <a:prstGeom prst="rect">
            <a:avLst/>
          </a:prstGeom>
          <a:noFill/>
        </p:spPr>
        <p:txBody>
          <a:bodyPr wrap="square">
            <a:spAutoFit/>
          </a:bodyPr>
          <a:lstStyle/>
          <a:p>
            <a:pPr marL="0" indent="0" algn="l">
              <a:buNone/>
            </a:pPr>
            <a:r>
              <a:rPr lang="en-US" sz="1100" dirty="0"/>
              <a:t>8</a:t>
            </a:r>
          </a:p>
        </p:txBody>
      </p:sp>
      <p:sp>
        <p:nvSpPr>
          <p:cNvPr id="23" name="Text 5">
            <a:extLst>
              <a:ext uri="{FF2B5EF4-FFF2-40B4-BE49-F238E27FC236}">
                <a16:creationId xmlns:a16="http://schemas.microsoft.com/office/drawing/2014/main" id="{9E597318-080C-64AF-7500-EF77D2E7E1DE}"/>
              </a:ext>
            </a:extLst>
          </p:cNvPr>
          <p:cNvSpPr/>
          <p:nvPr/>
        </p:nvSpPr>
        <p:spPr>
          <a:xfrm>
            <a:off x="419180" y="2193960"/>
            <a:ext cx="1554480" cy="347472"/>
          </a:xfrm>
          <a:prstGeom prst="rect">
            <a:avLst/>
          </a:prstGeom>
          <a:noFill/>
          <a:ln/>
        </p:spPr>
        <p:txBody>
          <a:bodyPr wrap="square" lIns="0" tIns="0" rIns="0" bIns="0" rtlCol="0" anchor="ctr"/>
          <a:lstStyle/>
          <a:p>
            <a:pPr marL="0" indent="0" algn="l">
              <a:buNone/>
            </a:pPr>
            <a:r>
              <a:rPr lang="en-US" sz="1000" b="1" dirty="0"/>
              <a:t>Project No.:</a:t>
            </a:r>
            <a:endParaRPr lang="en-US" sz="1000" dirty="0"/>
          </a:p>
        </p:txBody>
      </p:sp>
      <p:sp>
        <p:nvSpPr>
          <p:cNvPr id="24" name="Text 7">
            <a:extLst>
              <a:ext uri="{FF2B5EF4-FFF2-40B4-BE49-F238E27FC236}">
                <a16:creationId xmlns:a16="http://schemas.microsoft.com/office/drawing/2014/main" id="{9E1A3B60-5304-CF28-9A16-776753E585AA}"/>
              </a:ext>
            </a:extLst>
          </p:cNvPr>
          <p:cNvSpPr/>
          <p:nvPr/>
        </p:nvSpPr>
        <p:spPr>
          <a:xfrm>
            <a:off x="365760" y="3191256"/>
            <a:ext cx="1554480" cy="347472"/>
          </a:xfrm>
          <a:prstGeom prst="rect">
            <a:avLst/>
          </a:prstGeom>
          <a:noFill/>
          <a:ln/>
        </p:spPr>
        <p:txBody>
          <a:bodyPr wrap="square" lIns="0" tIns="0" rIns="0" bIns="0" rtlCol="0" anchor="ctr"/>
          <a:lstStyle/>
          <a:p>
            <a:pPr marL="0" indent="0" algn="l">
              <a:buNone/>
            </a:pPr>
            <a:endParaRPr lang="en-US" sz="1000" dirty="0"/>
          </a:p>
        </p:txBody>
      </p:sp>
      <p:sp>
        <p:nvSpPr>
          <p:cNvPr id="25" name="Text 9">
            <a:extLst>
              <a:ext uri="{FF2B5EF4-FFF2-40B4-BE49-F238E27FC236}">
                <a16:creationId xmlns:a16="http://schemas.microsoft.com/office/drawing/2014/main" id="{4A561A9C-3877-EE59-ED30-B13FA5210819}"/>
              </a:ext>
            </a:extLst>
          </p:cNvPr>
          <p:cNvSpPr/>
          <p:nvPr/>
        </p:nvSpPr>
        <p:spPr>
          <a:xfrm>
            <a:off x="365760" y="3593592"/>
            <a:ext cx="1554480" cy="347472"/>
          </a:xfrm>
          <a:prstGeom prst="rect">
            <a:avLst/>
          </a:prstGeom>
          <a:noFill/>
          <a:ln/>
        </p:spPr>
        <p:txBody>
          <a:bodyPr wrap="square" lIns="0" tIns="0" rIns="0" bIns="0" rtlCol="0" anchor="ctr"/>
          <a:lstStyle/>
          <a:p>
            <a:pPr marL="0" indent="0" algn="l">
              <a:buNone/>
            </a:pPr>
            <a:endParaRPr lang="en-US" sz="1000" dirty="0"/>
          </a:p>
        </p:txBody>
      </p:sp>
      <p:sp>
        <p:nvSpPr>
          <p:cNvPr id="26" name="Text 11">
            <a:extLst>
              <a:ext uri="{FF2B5EF4-FFF2-40B4-BE49-F238E27FC236}">
                <a16:creationId xmlns:a16="http://schemas.microsoft.com/office/drawing/2014/main" id="{7341E640-6E60-B552-BE35-E3EEA10F866F}"/>
              </a:ext>
            </a:extLst>
          </p:cNvPr>
          <p:cNvSpPr/>
          <p:nvPr/>
        </p:nvSpPr>
        <p:spPr>
          <a:xfrm>
            <a:off x="365760" y="3573421"/>
            <a:ext cx="1554480" cy="347472"/>
          </a:xfrm>
          <a:prstGeom prst="rect">
            <a:avLst/>
          </a:prstGeom>
          <a:noFill/>
          <a:ln/>
        </p:spPr>
        <p:txBody>
          <a:bodyPr wrap="square" lIns="0" tIns="0" rIns="0" bIns="0" rtlCol="0" anchor="ctr"/>
          <a:lstStyle/>
          <a:p>
            <a:pPr marL="0" indent="0" algn="l">
              <a:buNone/>
            </a:pPr>
            <a:r>
              <a:rPr lang="en-US" sz="1000" b="1" dirty="0"/>
              <a:t>Language:</a:t>
            </a:r>
            <a:endParaRPr lang="en-US" sz="1000" dirty="0"/>
          </a:p>
        </p:txBody>
      </p:sp>
      <p:sp>
        <p:nvSpPr>
          <p:cNvPr id="27" name="Text 13">
            <a:extLst>
              <a:ext uri="{FF2B5EF4-FFF2-40B4-BE49-F238E27FC236}">
                <a16:creationId xmlns:a16="http://schemas.microsoft.com/office/drawing/2014/main" id="{D1DADDC3-8BF0-42CE-44A6-C43345559FDF}"/>
              </a:ext>
            </a:extLst>
          </p:cNvPr>
          <p:cNvSpPr/>
          <p:nvPr/>
        </p:nvSpPr>
        <p:spPr>
          <a:xfrm>
            <a:off x="375630" y="4252468"/>
            <a:ext cx="1554480" cy="347472"/>
          </a:xfrm>
          <a:prstGeom prst="rect">
            <a:avLst/>
          </a:prstGeom>
          <a:noFill/>
          <a:ln/>
        </p:spPr>
        <p:txBody>
          <a:bodyPr wrap="square" lIns="0" tIns="0" rIns="0" bIns="0" rtlCol="0" anchor="ctr"/>
          <a:lstStyle/>
          <a:p>
            <a:pPr marL="0" indent="0" algn="l">
              <a:buNone/>
            </a:pPr>
            <a:r>
              <a:rPr lang="en-US" sz="1000" b="1" dirty="0"/>
              <a:t>Review Date:</a:t>
            </a:r>
            <a:endParaRPr lang="en-US" sz="1000" dirty="0"/>
          </a:p>
        </p:txBody>
      </p:sp>
      <p:sp>
        <p:nvSpPr>
          <p:cNvPr id="28" name="TextBox 27">
            <a:extLst>
              <a:ext uri="{FF2B5EF4-FFF2-40B4-BE49-F238E27FC236}">
                <a16:creationId xmlns:a16="http://schemas.microsoft.com/office/drawing/2014/main" id="{D33E44ED-133D-5BAD-DCF4-D42FFFF74C93}"/>
              </a:ext>
            </a:extLst>
          </p:cNvPr>
          <p:cNvSpPr txBox="1"/>
          <p:nvPr/>
        </p:nvSpPr>
        <p:spPr>
          <a:xfrm>
            <a:off x="301117" y="2639219"/>
            <a:ext cx="4633912" cy="246221"/>
          </a:xfrm>
          <a:prstGeom prst="rect">
            <a:avLst/>
          </a:prstGeom>
          <a:noFill/>
        </p:spPr>
        <p:txBody>
          <a:bodyPr wrap="square">
            <a:spAutoFit/>
          </a:bodyPr>
          <a:lstStyle/>
          <a:p>
            <a:pPr marL="0" indent="0" algn="l">
              <a:buNone/>
            </a:pPr>
            <a:r>
              <a:rPr lang="en-US" sz="1000" b="1" dirty="0"/>
              <a:t>Team Members </a:t>
            </a:r>
            <a:endParaRPr lang="en-US" sz="1000" dirty="0"/>
          </a:p>
        </p:txBody>
      </p:sp>
      <p:sp>
        <p:nvSpPr>
          <p:cNvPr id="29" name="TextBox 28">
            <a:extLst>
              <a:ext uri="{FF2B5EF4-FFF2-40B4-BE49-F238E27FC236}">
                <a16:creationId xmlns:a16="http://schemas.microsoft.com/office/drawing/2014/main" id="{D84B50D0-7A62-F536-9CCD-7A1C22944E7A}"/>
              </a:ext>
            </a:extLst>
          </p:cNvPr>
          <p:cNvSpPr txBox="1"/>
          <p:nvPr/>
        </p:nvSpPr>
        <p:spPr>
          <a:xfrm>
            <a:off x="316089" y="3316633"/>
            <a:ext cx="625983" cy="246221"/>
          </a:xfrm>
          <a:prstGeom prst="rect">
            <a:avLst/>
          </a:prstGeom>
          <a:noFill/>
        </p:spPr>
        <p:txBody>
          <a:bodyPr wrap="square">
            <a:spAutoFit/>
          </a:bodyPr>
          <a:lstStyle/>
          <a:p>
            <a:pPr marL="0" indent="0" algn="l">
              <a:buNone/>
            </a:pPr>
            <a:r>
              <a:rPr lang="en-US" sz="1000" b="1" dirty="0"/>
              <a:t>Section:</a:t>
            </a:r>
            <a:endParaRPr lang="en-US" sz="1000" dirty="0"/>
          </a:p>
        </p:txBody>
      </p:sp>
      <p:sp>
        <p:nvSpPr>
          <p:cNvPr id="31" name="Text 13">
            <a:extLst>
              <a:ext uri="{FF2B5EF4-FFF2-40B4-BE49-F238E27FC236}">
                <a16:creationId xmlns:a16="http://schemas.microsoft.com/office/drawing/2014/main" id="{7D8AFAEA-9AF6-2058-B1B6-86F3064FD8B9}"/>
              </a:ext>
            </a:extLst>
          </p:cNvPr>
          <p:cNvSpPr/>
          <p:nvPr/>
        </p:nvSpPr>
        <p:spPr>
          <a:xfrm>
            <a:off x="355890" y="3920893"/>
            <a:ext cx="1554480" cy="347472"/>
          </a:xfrm>
          <a:prstGeom prst="rect">
            <a:avLst/>
          </a:prstGeom>
          <a:noFill/>
          <a:ln/>
        </p:spPr>
        <p:txBody>
          <a:bodyPr wrap="square" lIns="0" tIns="0" rIns="0" bIns="0" rtlCol="0" anchor="ctr"/>
          <a:lstStyle/>
          <a:p>
            <a:pPr marL="0" indent="0" algn="l">
              <a:buNone/>
            </a:pPr>
            <a:r>
              <a:rPr lang="en-US" sz="1000" b="1" dirty="0"/>
              <a:t>Guide/Professor  Name                            </a:t>
            </a:r>
            <a:endParaRPr lang="en-US" sz="1000" dirty="0"/>
          </a:p>
        </p:txBody>
      </p:sp>
      <p:sp>
        <p:nvSpPr>
          <p:cNvPr id="32" name="Text 13">
            <a:extLst>
              <a:ext uri="{FF2B5EF4-FFF2-40B4-BE49-F238E27FC236}">
                <a16:creationId xmlns:a16="http://schemas.microsoft.com/office/drawing/2014/main" id="{DD1F24EA-E0CE-834B-BCCE-608BD56906F1}"/>
              </a:ext>
            </a:extLst>
          </p:cNvPr>
          <p:cNvSpPr/>
          <p:nvPr/>
        </p:nvSpPr>
        <p:spPr>
          <a:xfrm>
            <a:off x="1874518" y="4037076"/>
            <a:ext cx="2779777" cy="347472"/>
          </a:xfrm>
          <a:prstGeom prst="rect">
            <a:avLst/>
          </a:prstGeom>
          <a:noFill/>
          <a:ln/>
        </p:spPr>
        <p:txBody>
          <a:bodyPr wrap="square" lIns="0" tIns="0" rIns="0" bIns="0" rtlCol="0" anchor="ctr"/>
          <a:lstStyle/>
          <a:p>
            <a:r>
              <a:rPr lang="en-US" sz="1400" b="1" dirty="0"/>
              <a:t>    Dr </a:t>
            </a:r>
            <a:r>
              <a:rPr lang="en-IN" sz="1400" b="1" dirty="0"/>
              <a:t>Surya Kiran </a:t>
            </a:r>
            <a:r>
              <a:rPr lang="en-IN" sz="1400" b="1" dirty="0" err="1"/>
              <a:t>Chebrolu</a:t>
            </a:r>
            <a:endParaRPr lang="en-IN" sz="1400" b="1" dirty="0"/>
          </a:p>
          <a:p>
            <a:pPr marL="0" indent="0" algn="l">
              <a:buNone/>
            </a:pPr>
            <a:endParaRPr lang="en-US" sz="1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5A82"/>
          </a:solidFill>
          <a:ln w="12700">
            <a:solidFill>
              <a:srgbClr val="065A82"/>
            </a:solidFill>
            <a:prstDash val="solid"/>
          </a:ln>
        </p:spPr>
        <p:txBody>
          <a:bodyPr/>
          <a:lstStyle/>
          <a:p>
            <a:endParaRPr lang="en-IN" dirty="0"/>
          </a:p>
        </p:txBody>
      </p:sp>
      <p:sp>
        <p:nvSpPr>
          <p:cNvPr id="3" name="Text 1"/>
          <p:cNvSpPr/>
          <p:nvPr/>
        </p:nvSpPr>
        <p:spPr>
          <a:xfrm>
            <a:off x="365760" y="91440"/>
            <a:ext cx="8412480" cy="457200"/>
          </a:xfrm>
          <a:prstGeom prst="rect">
            <a:avLst/>
          </a:prstGeom>
          <a:noFill/>
          <a:ln/>
        </p:spPr>
        <p:txBody>
          <a:bodyPr wrap="square" lIns="0" tIns="0" rIns="0" bIns="0" rtlCol="0" anchor="ctr"/>
          <a:lstStyle/>
          <a:p>
            <a:pPr marL="0" indent="0">
              <a:buNone/>
            </a:pPr>
            <a:r>
              <a:rPr lang="en-US" sz="1800" b="1" dirty="0">
                <a:solidFill>
                  <a:srgbClr val="FFFFFF"/>
                </a:solidFill>
              </a:rPr>
              <a:t>ABSTRACT </a:t>
            </a:r>
            <a:endParaRPr lang="en-US" sz="1800" dirty="0"/>
          </a:p>
        </p:txBody>
      </p:sp>
      <p:sp>
        <p:nvSpPr>
          <p:cNvPr id="4" name="Shape 2"/>
          <p:cNvSpPr/>
          <p:nvPr/>
        </p:nvSpPr>
        <p:spPr>
          <a:xfrm>
            <a:off x="259401" y="841008"/>
            <a:ext cx="8595360" cy="4064822"/>
          </a:xfrm>
          <a:prstGeom prst="rect">
            <a:avLst/>
          </a:prstGeom>
          <a:solidFill>
            <a:srgbClr val="EAF4FB"/>
          </a:solidFill>
          <a:ln w="12700">
            <a:solidFill>
              <a:srgbClr val="02C39A"/>
            </a:solidFill>
            <a:prstDash val="solid"/>
          </a:ln>
        </p:spPr>
      </p:sp>
      <p:sp>
        <p:nvSpPr>
          <p:cNvPr id="5" name="Shape 3"/>
          <p:cNvSpPr/>
          <p:nvPr/>
        </p:nvSpPr>
        <p:spPr>
          <a:xfrm>
            <a:off x="259401" y="841007"/>
            <a:ext cx="106359" cy="4064823"/>
          </a:xfrm>
          <a:prstGeom prst="rect">
            <a:avLst/>
          </a:prstGeom>
          <a:solidFill>
            <a:srgbClr val="02C39A"/>
          </a:solidFill>
          <a:ln w="12700">
            <a:solidFill>
              <a:srgbClr val="02C39A"/>
            </a:solidFill>
            <a:prstDash val="solid"/>
          </a:ln>
        </p:spPr>
      </p:sp>
      <p:sp>
        <p:nvSpPr>
          <p:cNvPr id="6" name="Text 4"/>
          <p:cNvSpPr/>
          <p:nvPr/>
        </p:nvSpPr>
        <p:spPr>
          <a:xfrm>
            <a:off x="502920" y="868680"/>
            <a:ext cx="8229600" cy="274320"/>
          </a:xfrm>
          <a:prstGeom prst="rect">
            <a:avLst/>
          </a:prstGeom>
          <a:noFill/>
          <a:ln/>
        </p:spPr>
        <p:txBody>
          <a:bodyPr wrap="square" lIns="0" tIns="0" rIns="0" bIns="0" rtlCol="0" anchor="ctr"/>
          <a:lstStyle/>
          <a:p>
            <a:pPr marL="0" indent="0">
              <a:buNone/>
            </a:pPr>
            <a:endParaRPr lang="en-US" sz="1200" dirty="0"/>
          </a:p>
        </p:txBody>
      </p:sp>
      <p:sp>
        <p:nvSpPr>
          <p:cNvPr id="7" name="Text 5"/>
          <p:cNvSpPr/>
          <p:nvPr/>
        </p:nvSpPr>
        <p:spPr>
          <a:xfrm>
            <a:off x="579441" y="2474094"/>
            <a:ext cx="8229600" cy="739140"/>
          </a:xfrm>
          <a:prstGeom prst="rect">
            <a:avLst/>
          </a:prstGeom>
          <a:noFill/>
          <a:ln/>
        </p:spPr>
        <p:txBody>
          <a:bodyPr wrap="square" lIns="0" tIns="0" rIns="0" bIns="0" rtlCol="0" anchor="ctr"/>
          <a:lstStyle/>
          <a:p>
            <a:r>
              <a:rPr lang="en-US" sz="1600" dirty="0"/>
              <a:t>As the pet caring  landscape evolves, the demand for verified,  data-driven veterinary management systems has become critical. This project presents </a:t>
            </a:r>
            <a:r>
              <a:rPr lang="en-US" sz="1600" b="1" dirty="0"/>
              <a:t>PetCare</a:t>
            </a:r>
            <a:r>
              <a:rPr lang="en-US" sz="1600" dirty="0"/>
              <a:t>, an ecosystem designed to optimize pet healthcare through advanced computational techniques. The platform streamlines the management of pet profiles, medical histories, and vaccination schedules while providing robust clinic analytics which is the stem of the project. The technical core of PetCare diverse consists of a  multi-layered architectural approach utilizing specialized Data Structures and Algorithms  to ensure high-performance operations. Balanced search structures, including AVL and B+ Trees, are implemented to maintain efficient O(log n) indexing and range(Type) queries for extensive medical databases to keep in track of the records . For regional healthcare connectivity, the system employs </a:t>
            </a:r>
            <a:r>
              <a:rPr lang="en-US" sz="1600" b="1" dirty="0"/>
              <a:t>Graph Algorithms</a:t>
            </a:r>
            <a:r>
              <a:rPr lang="en-US" sz="1600" dirty="0"/>
              <a:t> such as Dijkstra’s and Minimum Spanning Trees to facilitate proximity-based facility location and optimize  networks with smaller costs . Furthermore, PetCare effectively bridges the gap between high-volume data management and real-time clinical decision support, ultimately enhancing the accuracy and accessibility across  veterinary services.</a:t>
            </a:r>
          </a:p>
        </p:txBody>
      </p:sp>
      <p:sp>
        <p:nvSpPr>
          <p:cNvPr id="12" name="Text 10"/>
          <p:cNvSpPr/>
          <p:nvPr/>
        </p:nvSpPr>
        <p:spPr>
          <a:xfrm>
            <a:off x="8503920" y="4846320"/>
            <a:ext cx="457200" cy="182880"/>
          </a:xfrm>
          <a:prstGeom prst="rect">
            <a:avLst/>
          </a:prstGeom>
          <a:noFill/>
          <a:ln/>
        </p:spPr>
        <p:txBody>
          <a:bodyPr wrap="square" lIns="0" tIns="0" rIns="0" bIns="0" rtlCol="0" anchor="ctr"/>
          <a:lstStyle/>
          <a:p>
            <a:pPr marL="0" indent="0">
              <a:buNone/>
            </a:pPr>
            <a:r>
              <a:rPr lang="en-US" sz="800" dirty="0">
                <a:solidFill>
                  <a:srgbClr val="6B7E9A"/>
                </a:solidFill>
              </a:rPr>
              <a:t>Slide 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170E8F0-72F0-118C-B75E-52B0EA15D8E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CDB80CC-B0FB-7265-75B2-E7420BF4684C}"/>
              </a:ext>
            </a:extLst>
          </p:cNvPr>
          <p:cNvSpPr/>
          <p:nvPr/>
        </p:nvSpPr>
        <p:spPr>
          <a:xfrm>
            <a:off x="0" y="0"/>
            <a:ext cx="9144000" cy="658368"/>
          </a:xfrm>
          <a:prstGeom prst="rect">
            <a:avLst/>
          </a:prstGeom>
          <a:solidFill>
            <a:srgbClr val="065A82"/>
          </a:solidFill>
          <a:ln w="12700">
            <a:solidFill>
              <a:srgbClr val="065A82"/>
            </a:solidFill>
            <a:prstDash val="solid"/>
          </a:ln>
        </p:spPr>
      </p:sp>
      <p:sp>
        <p:nvSpPr>
          <p:cNvPr id="3" name="Text 1">
            <a:extLst>
              <a:ext uri="{FF2B5EF4-FFF2-40B4-BE49-F238E27FC236}">
                <a16:creationId xmlns:a16="http://schemas.microsoft.com/office/drawing/2014/main" id="{5DC69C24-40FF-6291-32B8-E576D2308F90}"/>
              </a:ext>
            </a:extLst>
          </p:cNvPr>
          <p:cNvSpPr/>
          <p:nvPr/>
        </p:nvSpPr>
        <p:spPr>
          <a:xfrm>
            <a:off x="365760" y="91440"/>
            <a:ext cx="8412480" cy="457200"/>
          </a:xfrm>
          <a:prstGeom prst="rect">
            <a:avLst/>
          </a:prstGeom>
          <a:noFill/>
          <a:ln/>
        </p:spPr>
        <p:txBody>
          <a:bodyPr wrap="square" lIns="0" tIns="0" rIns="0" bIns="0" rtlCol="0" anchor="ctr"/>
          <a:lstStyle/>
          <a:p>
            <a:pPr marL="0" indent="0">
              <a:buNone/>
            </a:pPr>
            <a:r>
              <a:rPr lang="en-US" sz="1800" b="1" dirty="0">
                <a:solidFill>
                  <a:srgbClr val="FFFFFF"/>
                </a:solidFill>
              </a:rPr>
              <a:t>PROBLEM STATEMENT</a:t>
            </a:r>
            <a:endParaRPr lang="en-US" sz="1800" dirty="0"/>
          </a:p>
        </p:txBody>
      </p:sp>
      <p:sp>
        <p:nvSpPr>
          <p:cNvPr id="8" name="Shape 6">
            <a:extLst>
              <a:ext uri="{FF2B5EF4-FFF2-40B4-BE49-F238E27FC236}">
                <a16:creationId xmlns:a16="http://schemas.microsoft.com/office/drawing/2014/main" id="{C65CAA09-C7F1-131C-B4A5-8B9A9BEB92A9}"/>
              </a:ext>
            </a:extLst>
          </p:cNvPr>
          <p:cNvSpPr/>
          <p:nvPr/>
        </p:nvSpPr>
        <p:spPr>
          <a:xfrm>
            <a:off x="408592" y="868680"/>
            <a:ext cx="8552528" cy="3977640"/>
          </a:xfrm>
          <a:prstGeom prst="rect">
            <a:avLst/>
          </a:prstGeom>
          <a:solidFill>
            <a:srgbClr val="FFF8E1"/>
          </a:solidFill>
          <a:ln w="12700">
            <a:solidFill>
              <a:srgbClr val="F7B731"/>
            </a:solidFill>
            <a:prstDash val="solid"/>
          </a:ln>
        </p:spPr>
        <p:txBody>
          <a:bodyPr/>
          <a:lstStyle/>
          <a:p>
            <a:endParaRPr lang="en-IN" dirty="0"/>
          </a:p>
        </p:txBody>
      </p:sp>
      <p:sp>
        <p:nvSpPr>
          <p:cNvPr id="9" name="Shape 7">
            <a:extLst>
              <a:ext uri="{FF2B5EF4-FFF2-40B4-BE49-F238E27FC236}">
                <a16:creationId xmlns:a16="http://schemas.microsoft.com/office/drawing/2014/main" id="{624D8013-E91C-076E-16C1-36A643A0EB33}"/>
              </a:ext>
            </a:extLst>
          </p:cNvPr>
          <p:cNvSpPr/>
          <p:nvPr/>
        </p:nvSpPr>
        <p:spPr>
          <a:xfrm>
            <a:off x="298864" y="868680"/>
            <a:ext cx="109728" cy="3977640"/>
          </a:xfrm>
          <a:prstGeom prst="rect">
            <a:avLst/>
          </a:prstGeom>
          <a:solidFill>
            <a:srgbClr val="F7B731"/>
          </a:solidFill>
          <a:ln w="12700">
            <a:solidFill>
              <a:srgbClr val="F7B731"/>
            </a:solidFill>
            <a:prstDash val="solid"/>
          </a:ln>
        </p:spPr>
      </p:sp>
      <p:sp>
        <p:nvSpPr>
          <p:cNvPr id="10" name="Text 8">
            <a:extLst>
              <a:ext uri="{FF2B5EF4-FFF2-40B4-BE49-F238E27FC236}">
                <a16:creationId xmlns:a16="http://schemas.microsoft.com/office/drawing/2014/main" id="{C9038C70-9F66-B8FE-1089-C3D8505A0412}"/>
              </a:ext>
            </a:extLst>
          </p:cNvPr>
          <p:cNvSpPr/>
          <p:nvPr/>
        </p:nvSpPr>
        <p:spPr>
          <a:xfrm>
            <a:off x="659900" y="1080006"/>
            <a:ext cx="2727364" cy="405675"/>
          </a:xfrm>
          <a:prstGeom prst="rect">
            <a:avLst/>
          </a:prstGeom>
          <a:noFill/>
          <a:ln/>
        </p:spPr>
        <p:txBody>
          <a:bodyPr wrap="square" lIns="0" tIns="0" rIns="0" bIns="0" rtlCol="0" anchor="ctr"/>
          <a:lstStyle/>
          <a:p>
            <a:pPr marL="0" indent="0">
              <a:buNone/>
            </a:pPr>
            <a:endParaRPr lang="en-US" sz="2400" b="1" dirty="0">
              <a:solidFill>
                <a:srgbClr val="065A82"/>
              </a:solidFill>
            </a:endParaRPr>
          </a:p>
          <a:p>
            <a:pPr marL="0" indent="0">
              <a:buNone/>
            </a:pPr>
            <a:endParaRPr lang="en-US" sz="2400" dirty="0"/>
          </a:p>
        </p:txBody>
      </p:sp>
      <p:sp>
        <p:nvSpPr>
          <p:cNvPr id="11" name="Text 9">
            <a:extLst>
              <a:ext uri="{FF2B5EF4-FFF2-40B4-BE49-F238E27FC236}">
                <a16:creationId xmlns:a16="http://schemas.microsoft.com/office/drawing/2014/main" id="{3D634302-E17D-4806-8F10-620C9909EE24}"/>
              </a:ext>
            </a:extLst>
          </p:cNvPr>
          <p:cNvSpPr/>
          <p:nvPr/>
        </p:nvSpPr>
        <p:spPr>
          <a:xfrm>
            <a:off x="659900" y="2086056"/>
            <a:ext cx="8229600" cy="1683657"/>
          </a:xfrm>
          <a:prstGeom prst="rect">
            <a:avLst/>
          </a:prstGeom>
          <a:noFill/>
          <a:ln/>
        </p:spPr>
        <p:txBody>
          <a:bodyPr wrap="square" lIns="0" tIns="0" rIns="0" bIns="0" rtlCol="0" anchor="ctr"/>
          <a:lstStyle/>
          <a:p>
            <a:r>
              <a:rPr lang="en-US" sz="2100" dirty="0"/>
              <a:t>Modern Rescue systems process large amounts of transaction data daily. Traditional methods become slow and inefficient when handling large records.</a:t>
            </a:r>
          </a:p>
          <a:p>
            <a:r>
              <a:rPr lang="en-US" sz="2100" b="1" dirty="0"/>
              <a:t>This Systems require:</a:t>
            </a:r>
          </a:p>
          <a:p>
            <a:r>
              <a:rPr lang="en-US" sz="2100" dirty="0"/>
              <a:t>Fast account searching </a:t>
            </a:r>
          </a:p>
          <a:p>
            <a:r>
              <a:rPr lang="en-US" sz="2100" dirty="0"/>
              <a:t>Efficient rescue processing </a:t>
            </a:r>
          </a:p>
          <a:p>
            <a:r>
              <a:rPr lang="en-US" sz="2100" dirty="0"/>
              <a:t>Efficient on boarding  systems </a:t>
            </a:r>
          </a:p>
          <a:p>
            <a:r>
              <a:rPr lang="en-US" sz="2100" dirty="0"/>
              <a:t>Optimized analytics to understand the status </a:t>
            </a:r>
          </a:p>
          <a:p>
            <a:r>
              <a:rPr lang="en-US" sz="2100" dirty="0"/>
              <a:t>The challenge is to </a:t>
            </a:r>
            <a:r>
              <a:rPr lang="en-US" sz="2100" i="1" dirty="0">
                <a:solidFill>
                  <a:srgbClr val="C00000"/>
                </a:solidFill>
              </a:rPr>
              <a:t>Smart Veterinary Clinic </a:t>
            </a:r>
            <a:r>
              <a:rPr lang="en-US" sz="2100" dirty="0"/>
              <a:t>design an  using advanced Data Structures and Algorithms.</a:t>
            </a:r>
          </a:p>
          <a:p>
            <a:endParaRPr lang="en-US" sz="2100" dirty="0"/>
          </a:p>
        </p:txBody>
      </p:sp>
      <p:sp>
        <p:nvSpPr>
          <p:cNvPr id="12" name="Text 10">
            <a:extLst>
              <a:ext uri="{FF2B5EF4-FFF2-40B4-BE49-F238E27FC236}">
                <a16:creationId xmlns:a16="http://schemas.microsoft.com/office/drawing/2014/main" id="{E911F2C6-5A77-6CC4-91A8-65A68775654A}"/>
              </a:ext>
            </a:extLst>
          </p:cNvPr>
          <p:cNvSpPr/>
          <p:nvPr/>
        </p:nvSpPr>
        <p:spPr>
          <a:xfrm>
            <a:off x="8503920" y="4846320"/>
            <a:ext cx="457200" cy="182880"/>
          </a:xfrm>
          <a:prstGeom prst="rect">
            <a:avLst/>
          </a:prstGeom>
          <a:noFill/>
          <a:ln/>
        </p:spPr>
        <p:txBody>
          <a:bodyPr wrap="square" lIns="0" tIns="0" rIns="0" bIns="0" rtlCol="0" anchor="ctr"/>
          <a:lstStyle/>
          <a:p>
            <a:pPr marL="0" indent="0">
              <a:buNone/>
            </a:pPr>
            <a:r>
              <a:rPr lang="en-US" sz="800" dirty="0">
                <a:solidFill>
                  <a:srgbClr val="6B7E9A"/>
                </a:solidFill>
              </a:rPr>
              <a:t>Slide 2</a:t>
            </a:r>
            <a:endParaRPr lang="en-US" sz="800" dirty="0"/>
          </a:p>
        </p:txBody>
      </p:sp>
    </p:spTree>
    <p:extLst>
      <p:ext uri="{BB962C8B-B14F-4D97-AF65-F5344CB8AC3E}">
        <p14:creationId xmlns:p14="http://schemas.microsoft.com/office/powerpoint/2010/main" val="2605435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Shape 2">
            <a:extLst>
              <a:ext uri="{FF2B5EF4-FFF2-40B4-BE49-F238E27FC236}">
                <a16:creationId xmlns:a16="http://schemas.microsoft.com/office/drawing/2014/main" id="{202EB29C-A0A2-A639-FC62-1B67E13DFDEF}"/>
              </a:ext>
            </a:extLst>
          </p:cNvPr>
          <p:cNvSpPr/>
          <p:nvPr/>
        </p:nvSpPr>
        <p:spPr>
          <a:xfrm>
            <a:off x="259401" y="841008"/>
            <a:ext cx="8595360" cy="4064822"/>
          </a:xfrm>
          <a:prstGeom prst="rect">
            <a:avLst/>
          </a:prstGeom>
          <a:solidFill>
            <a:srgbClr val="EAF4FB"/>
          </a:solidFill>
          <a:ln w="12700">
            <a:solidFill>
              <a:srgbClr val="02C39A"/>
            </a:solidFill>
            <a:prstDash val="solid"/>
          </a:ln>
        </p:spPr>
      </p:sp>
      <p:sp>
        <p:nvSpPr>
          <p:cNvPr id="2" name="Shape 0"/>
          <p:cNvSpPr/>
          <p:nvPr/>
        </p:nvSpPr>
        <p:spPr>
          <a:xfrm>
            <a:off x="0" y="0"/>
            <a:ext cx="9144000" cy="658368"/>
          </a:xfrm>
          <a:prstGeom prst="rect">
            <a:avLst/>
          </a:prstGeom>
          <a:solidFill>
            <a:srgbClr val="065A82"/>
          </a:solidFill>
          <a:ln w="12700">
            <a:solidFill>
              <a:srgbClr val="065A82"/>
            </a:solidFill>
            <a:prstDash val="solid"/>
          </a:ln>
        </p:spPr>
      </p:sp>
      <p:sp>
        <p:nvSpPr>
          <p:cNvPr id="3" name="Text 1"/>
          <p:cNvSpPr/>
          <p:nvPr/>
        </p:nvSpPr>
        <p:spPr>
          <a:xfrm>
            <a:off x="365760" y="91440"/>
            <a:ext cx="8412480" cy="457200"/>
          </a:xfrm>
          <a:prstGeom prst="rect">
            <a:avLst/>
          </a:prstGeom>
          <a:noFill/>
          <a:ln/>
        </p:spPr>
        <p:txBody>
          <a:bodyPr wrap="square" lIns="0" tIns="0" rIns="0" bIns="0" rtlCol="0" anchor="ctr"/>
          <a:lstStyle/>
          <a:p>
            <a:pPr marL="0" indent="0">
              <a:buNone/>
            </a:pPr>
            <a:r>
              <a:rPr lang="en-US" sz="1800" b="1" dirty="0">
                <a:solidFill>
                  <a:srgbClr val="FFFFFF"/>
                </a:solidFill>
              </a:rPr>
              <a:t>OBJECTIVES</a:t>
            </a:r>
            <a:endParaRPr lang="en-US" sz="1800" dirty="0"/>
          </a:p>
        </p:txBody>
      </p:sp>
      <p:sp>
        <p:nvSpPr>
          <p:cNvPr id="7" name="Text 5"/>
          <p:cNvSpPr/>
          <p:nvPr/>
        </p:nvSpPr>
        <p:spPr>
          <a:xfrm>
            <a:off x="960120" y="914399"/>
            <a:ext cx="7543800" cy="3876261"/>
          </a:xfrm>
          <a:prstGeom prst="rect">
            <a:avLst/>
          </a:prstGeom>
          <a:noFill/>
          <a:ln/>
        </p:spPr>
        <p:txBody>
          <a:bodyPr wrap="square" lIns="0" tIns="0" rIns="0" bIns="0" rtlCol="0" anchor="ctr"/>
          <a:lstStyle/>
          <a:p>
            <a:r>
              <a:rPr lang="en-US" b="1" dirty="0"/>
              <a:t>Centralize Pet Health Management:</a:t>
            </a:r>
            <a:r>
              <a:rPr lang="en-US" dirty="0"/>
              <a:t> </a:t>
            </a:r>
            <a:r>
              <a:rPr lang="en-US" dirty="0">
                <a:solidFill>
                  <a:schemeClr val="accent5"/>
                </a:solidFill>
              </a:rPr>
              <a:t>Build a robust, scalable system to manage comprehensive pet profiles, medical histories, and active treatment records</a:t>
            </a:r>
            <a:r>
              <a:rPr lang="en-US" dirty="0"/>
              <a:t>.</a:t>
            </a:r>
          </a:p>
          <a:p>
            <a:r>
              <a:rPr lang="en-US" b="1" dirty="0"/>
              <a:t>Optimize Clinic Operations:</a:t>
            </a:r>
            <a:r>
              <a:rPr lang="en-US" dirty="0"/>
              <a:t> </a:t>
            </a:r>
            <a:r>
              <a:rPr lang="en-US" dirty="0">
                <a:solidFill>
                  <a:schemeClr val="accent5"/>
                </a:solidFill>
              </a:rPr>
              <a:t>Streamline veterinary appointments, resource allocation, and scheduling workflows to minimize pet wait times and maximize clinic efficiency</a:t>
            </a:r>
            <a:r>
              <a:rPr lang="en-US" dirty="0"/>
              <a:t>.</a:t>
            </a:r>
          </a:p>
          <a:p>
            <a:r>
              <a:rPr lang="en-US" b="1" dirty="0"/>
              <a:t>Enhance Healthcare Network Connectivity:</a:t>
            </a:r>
            <a:r>
              <a:rPr lang="en-US" dirty="0"/>
              <a:t> </a:t>
            </a:r>
            <a:r>
              <a:rPr lang="en-US" dirty="0">
                <a:solidFill>
                  <a:schemeClr val="accent5"/>
                </a:solidFill>
              </a:rPr>
              <a:t>Create an interconnected network of veterinary clinics to facilitate rapid referrals and resource sharing during emergencies</a:t>
            </a:r>
            <a:r>
              <a:rPr lang="en-US" dirty="0"/>
              <a:t>.</a:t>
            </a:r>
          </a:p>
          <a:p>
            <a:pPr marL="0" indent="0" algn="l">
              <a:buNone/>
            </a:pPr>
            <a:endParaRPr lang="en-US" sz="1200" dirty="0"/>
          </a:p>
        </p:txBody>
      </p:sp>
      <p:sp>
        <p:nvSpPr>
          <p:cNvPr id="12" name="Text 10"/>
          <p:cNvSpPr/>
          <p:nvPr/>
        </p:nvSpPr>
        <p:spPr>
          <a:xfrm>
            <a:off x="5394960" y="914400"/>
            <a:ext cx="3383280" cy="365760"/>
          </a:xfrm>
          <a:prstGeom prst="rect">
            <a:avLst/>
          </a:prstGeom>
          <a:noFill/>
          <a:ln/>
        </p:spPr>
        <p:txBody>
          <a:bodyPr wrap="square" lIns="0" tIns="0" rIns="0" bIns="0" rtlCol="0" anchor="ctr"/>
          <a:lstStyle/>
          <a:p>
            <a:pPr marL="0" indent="0" algn="l">
              <a:buNone/>
            </a:pPr>
            <a:endParaRPr lang="en-US" sz="1200" dirty="0"/>
          </a:p>
        </p:txBody>
      </p:sp>
      <p:sp>
        <p:nvSpPr>
          <p:cNvPr id="34" name="Text 32"/>
          <p:cNvSpPr/>
          <p:nvPr/>
        </p:nvSpPr>
        <p:spPr>
          <a:xfrm>
            <a:off x="8503920" y="4846320"/>
            <a:ext cx="457200" cy="182880"/>
          </a:xfrm>
          <a:prstGeom prst="rect">
            <a:avLst/>
          </a:prstGeom>
          <a:noFill/>
          <a:ln/>
        </p:spPr>
        <p:txBody>
          <a:bodyPr wrap="square" lIns="0" tIns="0" rIns="0" bIns="0" rtlCol="0" anchor="ctr"/>
          <a:lstStyle/>
          <a:p>
            <a:pPr marL="0" indent="0">
              <a:buNone/>
            </a:pPr>
            <a:r>
              <a:rPr lang="en-US" sz="800" dirty="0">
                <a:solidFill>
                  <a:srgbClr val="6B7E9A"/>
                </a:solidFill>
              </a:rPr>
              <a:t>Slide 3</a:t>
            </a:r>
            <a:endParaRPr lang="en-US" sz="800" dirty="0"/>
          </a:p>
        </p:txBody>
      </p:sp>
      <p:sp>
        <p:nvSpPr>
          <p:cNvPr id="5" name="Shape 3">
            <a:extLst>
              <a:ext uri="{FF2B5EF4-FFF2-40B4-BE49-F238E27FC236}">
                <a16:creationId xmlns:a16="http://schemas.microsoft.com/office/drawing/2014/main" id="{47BD984F-9538-D92E-CDCD-D1F9D7B3BCFA}"/>
              </a:ext>
            </a:extLst>
          </p:cNvPr>
          <p:cNvSpPr/>
          <p:nvPr/>
        </p:nvSpPr>
        <p:spPr>
          <a:xfrm>
            <a:off x="259401" y="841007"/>
            <a:ext cx="106359" cy="4064823"/>
          </a:xfrm>
          <a:prstGeom prst="rect">
            <a:avLst/>
          </a:prstGeom>
          <a:solidFill>
            <a:srgbClr val="02C39A"/>
          </a:solidFill>
          <a:ln w="12700">
            <a:solidFill>
              <a:srgbClr val="02C39A"/>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5A82"/>
          </a:solidFill>
          <a:ln w="12700">
            <a:solidFill>
              <a:srgbClr val="065A82"/>
            </a:solidFill>
            <a:prstDash val="solid"/>
          </a:ln>
        </p:spPr>
      </p:sp>
      <p:sp>
        <p:nvSpPr>
          <p:cNvPr id="3" name="Text 1"/>
          <p:cNvSpPr/>
          <p:nvPr/>
        </p:nvSpPr>
        <p:spPr>
          <a:xfrm>
            <a:off x="365760" y="91440"/>
            <a:ext cx="8412480" cy="457200"/>
          </a:xfrm>
          <a:prstGeom prst="rect">
            <a:avLst/>
          </a:prstGeom>
          <a:noFill/>
          <a:ln/>
        </p:spPr>
        <p:txBody>
          <a:bodyPr wrap="square" lIns="0" tIns="0" rIns="0" bIns="0" rtlCol="0" anchor="ctr"/>
          <a:lstStyle/>
          <a:p>
            <a:pPr marL="0" indent="0">
              <a:buNone/>
            </a:pPr>
            <a:r>
              <a:rPr lang="en-US" sz="1800" b="1" dirty="0">
                <a:solidFill>
                  <a:srgbClr val="FFFFFF"/>
                </a:solidFill>
              </a:rPr>
              <a:t>DOMAIN / APPLICATION DESIGN</a:t>
            </a:r>
            <a:endParaRPr lang="en-US" sz="1800" dirty="0"/>
          </a:p>
        </p:txBody>
      </p:sp>
      <p:sp>
        <p:nvSpPr>
          <p:cNvPr id="4" name="Shape 2"/>
          <p:cNvSpPr/>
          <p:nvPr/>
        </p:nvSpPr>
        <p:spPr>
          <a:xfrm>
            <a:off x="274320" y="777240"/>
            <a:ext cx="4114800" cy="1920240"/>
          </a:xfrm>
          <a:prstGeom prst="rect">
            <a:avLst/>
          </a:prstGeom>
          <a:solidFill>
            <a:srgbClr val="EAF4FB"/>
          </a:solidFill>
          <a:ln w="12700">
            <a:solidFill>
              <a:srgbClr val="02C39A"/>
            </a:solidFill>
            <a:prstDash val="solid"/>
          </a:ln>
        </p:spPr>
      </p:sp>
      <p:sp>
        <p:nvSpPr>
          <p:cNvPr id="5" name="Text 3"/>
          <p:cNvSpPr/>
          <p:nvPr/>
        </p:nvSpPr>
        <p:spPr>
          <a:xfrm>
            <a:off x="411480" y="822960"/>
            <a:ext cx="3840480" cy="320040"/>
          </a:xfrm>
          <a:prstGeom prst="rect">
            <a:avLst/>
          </a:prstGeom>
          <a:noFill/>
          <a:ln/>
        </p:spPr>
        <p:txBody>
          <a:bodyPr wrap="square" lIns="0" tIns="0" rIns="0" bIns="0" rtlCol="0" anchor="ctr"/>
          <a:lstStyle/>
          <a:p>
            <a:pPr marL="0" indent="0">
              <a:buNone/>
            </a:pPr>
            <a:r>
              <a:rPr lang="en-US" sz="1300" b="1" dirty="0">
                <a:solidFill>
                  <a:srgbClr val="065A82"/>
                </a:solidFill>
              </a:rPr>
              <a:t>Domain</a:t>
            </a:r>
            <a:endParaRPr lang="en-US" sz="1300" dirty="0"/>
          </a:p>
        </p:txBody>
      </p:sp>
      <p:sp>
        <p:nvSpPr>
          <p:cNvPr id="6" name="Text 4"/>
          <p:cNvSpPr/>
          <p:nvPr/>
        </p:nvSpPr>
        <p:spPr>
          <a:xfrm>
            <a:off x="411480" y="1143000"/>
            <a:ext cx="3840480" cy="548640"/>
          </a:xfrm>
          <a:prstGeom prst="rect">
            <a:avLst/>
          </a:prstGeom>
          <a:noFill/>
          <a:ln/>
        </p:spPr>
        <p:txBody>
          <a:bodyPr wrap="square" lIns="0" tIns="0" rIns="0" bIns="0" rtlCol="0" anchor="ctr"/>
          <a:lstStyle/>
          <a:p>
            <a:pPr marL="0" indent="0">
              <a:buNone/>
            </a:pPr>
            <a:r>
              <a:rPr lang="en-US" sz="1200" dirty="0">
                <a:solidFill>
                  <a:srgbClr val="2D3748"/>
                </a:solidFill>
              </a:rPr>
              <a:t>Veterinary Clinic &amp; Pet Health Management</a:t>
            </a:r>
            <a:endParaRPr lang="en-US" sz="1200" dirty="0"/>
          </a:p>
        </p:txBody>
      </p:sp>
      <p:sp>
        <p:nvSpPr>
          <p:cNvPr id="7" name="Text 5"/>
          <p:cNvSpPr/>
          <p:nvPr/>
        </p:nvSpPr>
        <p:spPr>
          <a:xfrm>
            <a:off x="411480" y="1737360"/>
            <a:ext cx="3840480" cy="320040"/>
          </a:xfrm>
          <a:prstGeom prst="rect">
            <a:avLst/>
          </a:prstGeom>
          <a:noFill/>
          <a:ln/>
        </p:spPr>
        <p:txBody>
          <a:bodyPr wrap="square" lIns="0" tIns="0" rIns="0" bIns="0" rtlCol="0" anchor="ctr"/>
          <a:lstStyle/>
          <a:p>
            <a:pPr marL="0" indent="0">
              <a:buNone/>
            </a:pPr>
            <a:r>
              <a:rPr lang="en-US" sz="1200" b="1" dirty="0">
                <a:solidFill>
                  <a:srgbClr val="065A82"/>
                </a:solidFill>
              </a:rPr>
              <a:t>Architecture</a:t>
            </a:r>
            <a:endParaRPr lang="en-US" sz="1200" dirty="0"/>
          </a:p>
        </p:txBody>
      </p:sp>
      <p:sp>
        <p:nvSpPr>
          <p:cNvPr id="8" name="Text 6"/>
          <p:cNvSpPr/>
          <p:nvPr/>
        </p:nvSpPr>
        <p:spPr>
          <a:xfrm>
            <a:off x="411480" y="2057400"/>
            <a:ext cx="3840480" cy="548640"/>
          </a:xfrm>
          <a:prstGeom prst="rect">
            <a:avLst/>
          </a:prstGeom>
          <a:noFill/>
          <a:ln/>
        </p:spPr>
        <p:txBody>
          <a:bodyPr wrap="square" lIns="0" tIns="0" rIns="0" bIns="0" rtlCol="0" anchor="ctr"/>
          <a:lstStyle/>
          <a:p>
            <a:pPr marL="0" indent="0">
              <a:buNone/>
            </a:pPr>
            <a:r>
              <a:rPr lang="en-US" sz="1000" dirty="0">
                <a:solidFill>
                  <a:srgbClr val="4A5568"/>
                </a:solidFill>
              </a:rPr>
              <a:t>Java CLI with nested menus (one per DSA module with context ) and  data screen (CSV / Raw mode) </a:t>
            </a:r>
            <a:endParaRPr lang="en-US" sz="1000" dirty="0"/>
          </a:p>
        </p:txBody>
      </p:sp>
      <p:sp>
        <p:nvSpPr>
          <p:cNvPr id="9" name="Shape 7"/>
          <p:cNvSpPr/>
          <p:nvPr/>
        </p:nvSpPr>
        <p:spPr>
          <a:xfrm>
            <a:off x="4572000" y="777240"/>
            <a:ext cx="4297680" cy="1920240"/>
          </a:xfrm>
          <a:prstGeom prst="rect">
            <a:avLst/>
          </a:prstGeom>
          <a:solidFill>
            <a:srgbClr val="FFF8E1"/>
          </a:solidFill>
          <a:ln w="12700">
            <a:solidFill>
              <a:srgbClr val="F7B731"/>
            </a:solidFill>
            <a:prstDash val="solid"/>
          </a:ln>
        </p:spPr>
      </p:sp>
      <p:sp>
        <p:nvSpPr>
          <p:cNvPr id="10" name="Text 8"/>
          <p:cNvSpPr/>
          <p:nvPr/>
        </p:nvSpPr>
        <p:spPr>
          <a:xfrm>
            <a:off x="4709160" y="822960"/>
            <a:ext cx="4023360" cy="320040"/>
          </a:xfrm>
          <a:prstGeom prst="rect">
            <a:avLst/>
          </a:prstGeom>
          <a:noFill/>
          <a:ln/>
        </p:spPr>
        <p:txBody>
          <a:bodyPr wrap="square" lIns="0" tIns="0" rIns="0" bIns="0" rtlCol="0" anchor="ctr"/>
          <a:lstStyle/>
          <a:p>
            <a:pPr marL="0" indent="0">
              <a:buNone/>
            </a:pPr>
            <a:r>
              <a:rPr lang="en-US" sz="1300" b="1" dirty="0">
                <a:solidFill>
                  <a:srgbClr val="065A82"/>
                </a:solidFill>
              </a:rPr>
              <a:t>Core Entities</a:t>
            </a:r>
            <a:endParaRPr lang="en-US" sz="1300" dirty="0"/>
          </a:p>
        </p:txBody>
      </p:sp>
      <p:sp>
        <p:nvSpPr>
          <p:cNvPr id="11" name="Shape 9"/>
          <p:cNvSpPr/>
          <p:nvPr/>
        </p:nvSpPr>
        <p:spPr>
          <a:xfrm>
            <a:off x="4709160" y="1188720"/>
            <a:ext cx="1188720" cy="347472"/>
          </a:xfrm>
          <a:prstGeom prst="roundRect">
            <a:avLst>
              <a:gd name="adj" fmla="val 13158"/>
            </a:avLst>
          </a:prstGeom>
          <a:solidFill>
            <a:srgbClr val="F7B731"/>
          </a:solidFill>
          <a:ln w="12700">
            <a:solidFill>
              <a:srgbClr val="F7B731"/>
            </a:solidFill>
            <a:prstDash val="solid"/>
          </a:ln>
        </p:spPr>
      </p:sp>
      <p:sp>
        <p:nvSpPr>
          <p:cNvPr id="12" name="Text 10"/>
          <p:cNvSpPr/>
          <p:nvPr/>
        </p:nvSpPr>
        <p:spPr>
          <a:xfrm>
            <a:off x="4709160" y="1188720"/>
            <a:ext cx="1188720" cy="347472"/>
          </a:xfrm>
          <a:prstGeom prst="rect">
            <a:avLst/>
          </a:prstGeom>
          <a:noFill/>
          <a:ln/>
        </p:spPr>
        <p:txBody>
          <a:bodyPr wrap="square" lIns="0" tIns="0" rIns="0" bIns="0" rtlCol="0" anchor="ctr"/>
          <a:lstStyle/>
          <a:p>
            <a:pPr marL="0" indent="0" algn="ctr">
              <a:buNone/>
            </a:pPr>
            <a:r>
              <a:rPr lang="en-US" sz="1000" b="1" dirty="0">
                <a:solidFill>
                  <a:srgbClr val="0A1628"/>
                </a:solidFill>
              </a:rPr>
              <a:t>Pet Rescue</a:t>
            </a:r>
            <a:endParaRPr lang="en-US" sz="1000" dirty="0"/>
          </a:p>
        </p:txBody>
      </p:sp>
      <p:sp>
        <p:nvSpPr>
          <p:cNvPr id="13" name="Shape 11"/>
          <p:cNvSpPr/>
          <p:nvPr/>
        </p:nvSpPr>
        <p:spPr>
          <a:xfrm>
            <a:off x="6035040" y="1188720"/>
            <a:ext cx="1188720" cy="347472"/>
          </a:xfrm>
          <a:prstGeom prst="roundRect">
            <a:avLst>
              <a:gd name="adj" fmla="val 13158"/>
            </a:avLst>
          </a:prstGeom>
          <a:solidFill>
            <a:srgbClr val="F7B731"/>
          </a:solidFill>
          <a:ln w="12700">
            <a:solidFill>
              <a:srgbClr val="F7B731"/>
            </a:solidFill>
            <a:prstDash val="solid"/>
          </a:ln>
        </p:spPr>
      </p:sp>
      <p:sp>
        <p:nvSpPr>
          <p:cNvPr id="14" name="Text 12"/>
          <p:cNvSpPr/>
          <p:nvPr/>
        </p:nvSpPr>
        <p:spPr>
          <a:xfrm>
            <a:off x="6035040" y="1188720"/>
            <a:ext cx="1188720" cy="347472"/>
          </a:xfrm>
          <a:prstGeom prst="rect">
            <a:avLst/>
          </a:prstGeom>
          <a:noFill/>
          <a:ln/>
        </p:spPr>
        <p:txBody>
          <a:bodyPr wrap="square" lIns="0" tIns="0" rIns="0" bIns="0" rtlCol="0" anchor="ctr"/>
          <a:lstStyle/>
          <a:p>
            <a:pPr marL="0" indent="0" algn="ctr">
              <a:buNone/>
            </a:pPr>
            <a:r>
              <a:rPr lang="en-US" sz="1000" b="1" dirty="0">
                <a:solidFill>
                  <a:srgbClr val="0A1628"/>
                </a:solidFill>
              </a:rPr>
              <a:t>Treatment</a:t>
            </a:r>
            <a:endParaRPr lang="en-US" sz="1000" dirty="0"/>
          </a:p>
        </p:txBody>
      </p:sp>
      <p:sp>
        <p:nvSpPr>
          <p:cNvPr id="15" name="Shape 13"/>
          <p:cNvSpPr/>
          <p:nvPr/>
        </p:nvSpPr>
        <p:spPr>
          <a:xfrm>
            <a:off x="7360920" y="1188720"/>
            <a:ext cx="1188720" cy="347472"/>
          </a:xfrm>
          <a:prstGeom prst="roundRect">
            <a:avLst>
              <a:gd name="adj" fmla="val 13158"/>
            </a:avLst>
          </a:prstGeom>
          <a:solidFill>
            <a:srgbClr val="F7B731"/>
          </a:solidFill>
          <a:ln w="12700">
            <a:solidFill>
              <a:srgbClr val="F7B731"/>
            </a:solidFill>
            <a:prstDash val="solid"/>
          </a:ln>
        </p:spPr>
      </p:sp>
      <p:sp>
        <p:nvSpPr>
          <p:cNvPr id="16" name="Text 14"/>
          <p:cNvSpPr/>
          <p:nvPr/>
        </p:nvSpPr>
        <p:spPr>
          <a:xfrm>
            <a:off x="7360920" y="1188720"/>
            <a:ext cx="1188720" cy="347472"/>
          </a:xfrm>
          <a:prstGeom prst="rect">
            <a:avLst/>
          </a:prstGeom>
          <a:noFill/>
          <a:ln/>
        </p:spPr>
        <p:txBody>
          <a:bodyPr wrap="square" lIns="0" tIns="0" rIns="0" bIns="0" rtlCol="0" anchor="ctr"/>
          <a:lstStyle/>
          <a:p>
            <a:pPr marL="0" indent="0" algn="ctr">
              <a:buNone/>
            </a:pPr>
            <a:r>
              <a:rPr lang="en-US" sz="1000" b="1" dirty="0">
                <a:solidFill>
                  <a:srgbClr val="0A1628"/>
                </a:solidFill>
              </a:rPr>
              <a:t>Appointment</a:t>
            </a:r>
            <a:endParaRPr lang="en-US" sz="1000" dirty="0"/>
          </a:p>
        </p:txBody>
      </p:sp>
      <p:sp>
        <p:nvSpPr>
          <p:cNvPr id="17" name="Shape 15"/>
          <p:cNvSpPr/>
          <p:nvPr/>
        </p:nvSpPr>
        <p:spPr>
          <a:xfrm>
            <a:off x="4709160" y="1645920"/>
            <a:ext cx="1188720" cy="347472"/>
          </a:xfrm>
          <a:prstGeom prst="roundRect">
            <a:avLst>
              <a:gd name="adj" fmla="val 13158"/>
            </a:avLst>
          </a:prstGeom>
          <a:solidFill>
            <a:srgbClr val="F7B731"/>
          </a:solidFill>
          <a:ln w="12700">
            <a:solidFill>
              <a:srgbClr val="F7B731"/>
            </a:solidFill>
            <a:prstDash val="solid"/>
          </a:ln>
        </p:spPr>
      </p:sp>
      <p:sp>
        <p:nvSpPr>
          <p:cNvPr id="18" name="Text 16"/>
          <p:cNvSpPr/>
          <p:nvPr/>
        </p:nvSpPr>
        <p:spPr>
          <a:xfrm>
            <a:off x="4709160" y="1645920"/>
            <a:ext cx="1188720" cy="347472"/>
          </a:xfrm>
          <a:prstGeom prst="rect">
            <a:avLst/>
          </a:prstGeom>
          <a:noFill/>
          <a:ln/>
        </p:spPr>
        <p:txBody>
          <a:bodyPr wrap="square" lIns="0" tIns="0" rIns="0" bIns="0" rtlCol="0" anchor="ctr"/>
          <a:lstStyle/>
          <a:p>
            <a:pPr marL="0" indent="0" algn="ctr">
              <a:buNone/>
            </a:pPr>
            <a:r>
              <a:rPr lang="en-US" sz="1000" b="1" dirty="0">
                <a:solidFill>
                  <a:srgbClr val="0A1628"/>
                </a:solidFill>
              </a:rPr>
              <a:t>Vaccination</a:t>
            </a:r>
            <a:endParaRPr lang="en-US" sz="1000" dirty="0"/>
          </a:p>
        </p:txBody>
      </p:sp>
      <p:sp>
        <p:nvSpPr>
          <p:cNvPr id="19" name="Shape 17"/>
          <p:cNvSpPr/>
          <p:nvPr/>
        </p:nvSpPr>
        <p:spPr>
          <a:xfrm>
            <a:off x="6035040" y="1645920"/>
            <a:ext cx="1188720" cy="347472"/>
          </a:xfrm>
          <a:prstGeom prst="roundRect">
            <a:avLst>
              <a:gd name="adj" fmla="val 13158"/>
            </a:avLst>
          </a:prstGeom>
          <a:solidFill>
            <a:srgbClr val="F7B731"/>
          </a:solidFill>
          <a:ln w="12700">
            <a:solidFill>
              <a:srgbClr val="F7B731"/>
            </a:solidFill>
            <a:prstDash val="solid"/>
          </a:ln>
        </p:spPr>
      </p:sp>
      <p:sp>
        <p:nvSpPr>
          <p:cNvPr id="20" name="Text 18"/>
          <p:cNvSpPr/>
          <p:nvPr/>
        </p:nvSpPr>
        <p:spPr>
          <a:xfrm>
            <a:off x="6035040" y="1645920"/>
            <a:ext cx="1188720" cy="347472"/>
          </a:xfrm>
          <a:prstGeom prst="rect">
            <a:avLst/>
          </a:prstGeom>
          <a:noFill/>
          <a:ln/>
        </p:spPr>
        <p:txBody>
          <a:bodyPr wrap="square" lIns="0" tIns="0" rIns="0" bIns="0" rtlCol="0" anchor="ctr"/>
          <a:lstStyle/>
          <a:p>
            <a:pPr marL="0" indent="0" algn="ctr">
              <a:buNone/>
            </a:pPr>
            <a:r>
              <a:rPr lang="en-US" sz="1000" b="1" dirty="0">
                <a:solidFill>
                  <a:srgbClr val="0A1628"/>
                </a:solidFill>
              </a:rPr>
              <a:t>Clinic</a:t>
            </a:r>
            <a:endParaRPr lang="en-US" sz="1000" dirty="0"/>
          </a:p>
        </p:txBody>
      </p:sp>
      <p:sp>
        <p:nvSpPr>
          <p:cNvPr id="21" name="Shape 19"/>
          <p:cNvSpPr/>
          <p:nvPr/>
        </p:nvSpPr>
        <p:spPr>
          <a:xfrm>
            <a:off x="274320" y="2834640"/>
            <a:ext cx="8595360" cy="1645920"/>
          </a:xfrm>
          <a:prstGeom prst="rect">
            <a:avLst/>
          </a:prstGeom>
          <a:solidFill>
            <a:srgbClr val="F0FFF4"/>
          </a:solidFill>
          <a:ln w="12700">
            <a:solidFill>
              <a:srgbClr val="02C39A"/>
            </a:solidFill>
            <a:prstDash val="solid"/>
          </a:ln>
        </p:spPr>
      </p:sp>
      <p:sp>
        <p:nvSpPr>
          <p:cNvPr id="22" name="Text 20"/>
          <p:cNvSpPr/>
          <p:nvPr/>
        </p:nvSpPr>
        <p:spPr>
          <a:xfrm>
            <a:off x="457200" y="2880360"/>
            <a:ext cx="8229600" cy="320040"/>
          </a:xfrm>
          <a:prstGeom prst="rect">
            <a:avLst/>
          </a:prstGeom>
          <a:noFill/>
          <a:ln/>
        </p:spPr>
        <p:txBody>
          <a:bodyPr wrap="square" lIns="0" tIns="0" rIns="0" bIns="0" rtlCol="0" anchor="ctr"/>
          <a:lstStyle/>
          <a:p>
            <a:pPr marL="0" indent="0">
              <a:buNone/>
            </a:pPr>
            <a:r>
              <a:rPr lang="en-US" sz="1300" b="1" dirty="0">
                <a:solidFill>
                  <a:srgbClr val="065A82"/>
                </a:solidFill>
              </a:rPr>
              <a:t>Package Structure</a:t>
            </a:r>
            <a:endParaRPr lang="en-US" sz="1300" dirty="0"/>
          </a:p>
        </p:txBody>
      </p:sp>
      <p:sp>
        <p:nvSpPr>
          <p:cNvPr id="23" name="Shape 21"/>
          <p:cNvSpPr/>
          <p:nvPr/>
        </p:nvSpPr>
        <p:spPr>
          <a:xfrm>
            <a:off x="457200" y="3291840"/>
            <a:ext cx="1965960" cy="347472"/>
          </a:xfrm>
          <a:prstGeom prst="rect">
            <a:avLst/>
          </a:prstGeom>
          <a:solidFill>
            <a:srgbClr val="02C39A"/>
          </a:solidFill>
          <a:ln w="12700">
            <a:solidFill>
              <a:srgbClr val="02C39A"/>
            </a:solidFill>
            <a:prstDash val="solid"/>
          </a:ln>
        </p:spPr>
      </p:sp>
      <p:sp>
        <p:nvSpPr>
          <p:cNvPr id="24" name="Text 22"/>
          <p:cNvSpPr/>
          <p:nvPr/>
        </p:nvSpPr>
        <p:spPr>
          <a:xfrm>
            <a:off x="457200" y="3291840"/>
            <a:ext cx="1965960" cy="347472"/>
          </a:xfrm>
          <a:prstGeom prst="rect">
            <a:avLst/>
          </a:prstGeom>
          <a:noFill/>
          <a:ln/>
        </p:spPr>
        <p:txBody>
          <a:bodyPr wrap="square" lIns="0" tIns="0" rIns="0" bIns="0" rtlCol="0" anchor="ctr"/>
          <a:lstStyle/>
          <a:p>
            <a:pPr marL="0" indent="0" algn="ctr">
              <a:buNone/>
            </a:pPr>
            <a:r>
              <a:rPr lang="en-US" sz="900" b="1" dirty="0">
                <a:solidFill>
                  <a:srgbClr val="FFFFFF"/>
                </a:solidFill>
              </a:rPr>
              <a:t>petcare.models</a:t>
            </a:r>
            <a:endParaRPr lang="en-US" sz="900" dirty="0"/>
          </a:p>
        </p:txBody>
      </p:sp>
      <p:sp>
        <p:nvSpPr>
          <p:cNvPr id="25" name="Shape 23"/>
          <p:cNvSpPr/>
          <p:nvPr/>
        </p:nvSpPr>
        <p:spPr>
          <a:xfrm>
            <a:off x="2560320" y="3291840"/>
            <a:ext cx="1965960" cy="347472"/>
          </a:xfrm>
          <a:prstGeom prst="rect">
            <a:avLst/>
          </a:prstGeom>
          <a:solidFill>
            <a:srgbClr val="02C39A"/>
          </a:solidFill>
          <a:ln w="12700">
            <a:solidFill>
              <a:srgbClr val="02C39A"/>
            </a:solidFill>
            <a:prstDash val="solid"/>
          </a:ln>
        </p:spPr>
      </p:sp>
      <p:sp>
        <p:nvSpPr>
          <p:cNvPr id="26" name="Text 24"/>
          <p:cNvSpPr/>
          <p:nvPr/>
        </p:nvSpPr>
        <p:spPr>
          <a:xfrm>
            <a:off x="2560320" y="3291840"/>
            <a:ext cx="1965960" cy="347472"/>
          </a:xfrm>
          <a:prstGeom prst="rect">
            <a:avLst/>
          </a:prstGeom>
          <a:noFill/>
          <a:ln/>
        </p:spPr>
        <p:txBody>
          <a:bodyPr wrap="square" lIns="0" tIns="0" rIns="0" bIns="0" rtlCol="0" anchor="ctr"/>
          <a:lstStyle/>
          <a:p>
            <a:pPr marL="0" indent="0" algn="ctr">
              <a:buNone/>
            </a:pPr>
            <a:r>
              <a:rPr lang="en-US" sz="900" b="1" dirty="0">
                <a:solidFill>
                  <a:srgbClr val="FFFFFF"/>
                </a:solidFill>
              </a:rPr>
              <a:t>petcare.utils</a:t>
            </a:r>
            <a:endParaRPr lang="en-US" sz="900" dirty="0"/>
          </a:p>
        </p:txBody>
      </p:sp>
      <p:sp>
        <p:nvSpPr>
          <p:cNvPr id="27" name="Shape 25"/>
          <p:cNvSpPr/>
          <p:nvPr/>
        </p:nvSpPr>
        <p:spPr>
          <a:xfrm>
            <a:off x="4663440" y="3291840"/>
            <a:ext cx="1965960" cy="347472"/>
          </a:xfrm>
          <a:prstGeom prst="rect">
            <a:avLst/>
          </a:prstGeom>
          <a:solidFill>
            <a:srgbClr val="02C39A"/>
          </a:solidFill>
          <a:ln w="12700">
            <a:solidFill>
              <a:srgbClr val="02C39A"/>
            </a:solidFill>
            <a:prstDash val="solid"/>
          </a:ln>
        </p:spPr>
      </p:sp>
      <p:sp>
        <p:nvSpPr>
          <p:cNvPr id="28" name="Text 26"/>
          <p:cNvSpPr/>
          <p:nvPr/>
        </p:nvSpPr>
        <p:spPr>
          <a:xfrm>
            <a:off x="4663440" y="3291840"/>
            <a:ext cx="1965960" cy="347472"/>
          </a:xfrm>
          <a:prstGeom prst="rect">
            <a:avLst/>
          </a:prstGeom>
          <a:noFill/>
          <a:ln/>
        </p:spPr>
        <p:txBody>
          <a:bodyPr wrap="square" lIns="0" tIns="0" rIns="0" bIns="0" rtlCol="0" anchor="ctr"/>
          <a:lstStyle/>
          <a:p>
            <a:pPr marL="0" indent="0" algn="ctr">
              <a:buNone/>
            </a:pPr>
            <a:r>
              <a:rPr lang="en-US" sz="900" b="1" dirty="0">
                <a:solidFill>
                  <a:srgbClr val="FFFFFF"/>
                </a:solidFill>
              </a:rPr>
              <a:t>petcare.menu</a:t>
            </a:r>
            <a:endParaRPr lang="en-US" sz="900" dirty="0"/>
          </a:p>
        </p:txBody>
      </p:sp>
      <p:sp>
        <p:nvSpPr>
          <p:cNvPr id="29" name="Shape 27"/>
          <p:cNvSpPr/>
          <p:nvPr/>
        </p:nvSpPr>
        <p:spPr>
          <a:xfrm>
            <a:off x="6766560" y="3291840"/>
            <a:ext cx="1965960" cy="347472"/>
          </a:xfrm>
          <a:prstGeom prst="rect">
            <a:avLst/>
          </a:prstGeom>
          <a:solidFill>
            <a:srgbClr val="02C39A"/>
          </a:solidFill>
          <a:ln w="12700">
            <a:solidFill>
              <a:srgbClr val="02C39A"/>
            </a:solidFill>
            <a:prstDash val="solid"/>
          </a:ln>
        </p:spPr>
      </p:sp>
      <p:sp>
        <p:nvSpPr>
          <p:cNvPr id="30" name="Text 28"/>
          <p:cNvSpPr/>
          <p:nvPr/>
        </p:nvSpPr>
        <p:spPr>
          <a:xfrm>
            <a:off x="6766560" y="3291840"/>
            <a:ext cx="1965960" cy="347472"/>
          </a:xfrm>
          <a:prstGeom prst="rect">
            <a:avLst/>
          </a:prstGeom>
          <a:noFill/>
          <a:ln/>
        </p:spPr>
        <p:txBody>
          <a:bodyPr wrap="square" lIns="0" tIns="0" rIns="0" bIns="0" rtlCol="0" anchor="ctr"/>
          <a:lstStyle/>
          <a:p>
            <a:pPr marL="0" indent="0" algn="ctr">
              <a:buNone/>
            </a:pPr>
            <a:r>
              <a:rPr lang="en-US" sz="900" b="1" dirty="0">
                <a:solidFill>
                  <a:srgbClr val="FFFFFF"/>
                </a:solidFill>
              </a:rPr>
              <a:t>petcare.trees</a:t>
            </a:r>
            <a:endParaRPr lang="en-US" sz="900" dirty="0"/>
          </a:p>
        </p:txBody>
      </p:sp>
      <p:sp>
        <p:nvSpPr>
          <p:cNvPr id="31" name="Shape 29"/>
          <p:cNvSpPr/>
          <p:nvPr/>
        </p:nvSpPr>
        <p:spPr>
          <a:xfrm>
            <a:off x="457200" y="3749040"/>
            <a:ext cx="1965960" cy="347472"/>
          </a:xfrm>
          <a:prstGeom prst="rect">
            <a:avLst/>
          </a:prstGeom>
          <a:solidFill>
            <a:srgbClr val="02C39A"/>
          </a:solidFill>
          <a:ln w="12700">
            <a:solidFill>
              <a:srgbClr val="02C39A"/>
            </a:solidFill>
            <a:prstDash val="solid"/>
          </a:ln>
        </p:spPr>
      </p:sp>
      <p:sp>
        <p:nvSpPr>
          <p:cNvPr id="32" name="Text 30"/>
          <p:cNvSpPr/>
          <p:nvPr/>
        </p:nvSpPr>
        <p:spPr>
          <a:xfrm>
            <a:off x="457200" y="3749040"/>
            <a:ext cx="1965960" cy="347472"/>
          </a:xfrm>
          <a:prstGeom prst="rect">
            <a:avLst/>
          </a:prstGeom>
          <a:noFill/>
          <a:ln/>
        </p:spPr>
        <p:txBody>
          <a:bodyPr wrap="square" lIns="0" tIns="0" rIns="0" bIns="0" rtlCol="0" anchor="ctr"/>
          <a:lstStyle/>
          <a:p>
            <a:pPr marL="0" indent="0" algn="ctr">
              <a:buNone/>
            </a:pPr>
            <a:r>
              <a:rPr lang="en-US" sz="900" b="1" dirty="0">
                <a:solidFill>
                  <a:srgbClr val="FFFFFF"/>
                </a:solidFill>
              </a:rPr>
              <a:t>petcare.graphs</a:t>
            </a:r>
            <a:endParaRPr lang="en-US" sz="900" dirty="0"/>
          </a:p>
        </p:txBody>
      </p:sp>
      <p:sp>
        <p:nvSpPr>
          <p:cNvPr id="33" name="Shape 31"/>
          <p:cNvSpPr/>
          <p:nvPr/>
        </p:nvSpPr>
        <p:spPr>
          <a:xfrm>
            <a:off x="2560320" y="3749040"/>
            <a:ext cx="1965960" cy="347472"/>
          </a:xfrm>
          <a:prstGeom prst="rect">
            <a:avLst/>
          </a:prstGeom>
          <a:solidFill>
            <a:srgbClr val="02C39A"/>
          </a:solidFill>
          <a:ln w="12700">
            <a:solidFill>
              <a:srgbClr val="02C39A"/>
            </a:solidFill>
            <a:prstDash val="solid"/>
          </a:ln>
        </p:spPr>
      </p:sp>
      <p:sp>
        <p:nvSpPr>
          <p:cNvPr id="34" name="Text 32"/>
          <p:cNvSpPr/>
          <p:nvPr/>
        </p:nvSpPr>
        <p:spPr>
          <a:xfrm>
            <a:off x="2560320" y="3749040"/>
            <a:ext cx="1965960" cy="347472"/>
          </a:xfrm>
          <a:prstGeom prst="rect">
            <a:avLst/>
          </a:prstGeom>
          <a:noFill/>
          <a:ln/>
        </p:spPr>
        <p:txBody>
          <a:bodyPr wrap="square" lIns="0" tIns="0" rIns="0" bIns="0" rtlCol="0" anchor="ctr"/>
          <a:lstStyle/>
          <a:p>
            <a:pPr marL="0" indent="0" algn="ctr">
              <a:buNone/>
            </a:pPr>
            <a:r>
              <a:rPr lang="en-US" sz="900" b="1" dirty="0">
                <a:solidFill>
                  <a:srgbClr val="FFFFFF"/>
                </a:solidFill>
              </a:rPr>
              <a:t>petcare.sorting</a:t>
            </a:r>
            <a:endParaRPr lang="en-US" sz="900" dirty="0"/>
          </a:p>
        </p:txBody>
      </p:sp>
      <p:sp>
        <p:nvSpPr>
          <p:cNvPr id="35" name="Shape 33"/>
          <p:cNvSpPr/>
          <p:nvPr/>
        </p:nvSpPr>
        <p:spPr>
          <a:xfrm>
            <a:off x="4663440" y="3749040"/>
            <a:ext cx="1965960" cy="347472"/>
          </a:xfrm>
          <a:prstGeom prst="rect">
            <a:avLst/>
          </a:prstGeom>
          <a:solidFill>
            <a:srgbClr val="02C39A"/>
          </a:solidFill>
          <a:ln w="12700">
            <a:solidFill>
              <a:srgbClr val="02C39A"/>
            </a:solidFill>
            <a:prstDash val="solid"/>
          </a:ln>
        </p:spPr>
      </p:sp>
      <p:sp>
        <p:nvSpPr>
          <p:cNvPr id="36" name="Text 34"/>
          <p:cNvSpPr/>
          <p:nvPr/>
        </p:nvSpPr>
        <p:spPr>
          <a:xfrm>
            <a:off x="4663440" y="3749040"/>
            <a:ext cx="1965960" cy="347472"/>
          </a:xfrm>
          <a:prstGeom prst="rect">
            <a:avLst/>
          </a:prstGeom>
          <a:noFill/>
          <a:ln/>
        </p:spPr>
        <p:txBody>
          <a:bodyPr wrap="square" lIns="0" tIns="0" rIns="0" bIns="0" rtlCol="0" anchor="ctr"/>
          <a:lstStyle/>
          <a:p>
            <a:pPr marL="0" indent="0" algn="ctr">
              <a:buNone/>
            </a:pPr>
            <a:r>
              <a:rPr lang="en-US" sz="900" b="1" dirty="0">
                <a:solidFill>
                  <a:srgbClr val="FFFFFF"/>
                </a:solidFill>
              </a:rPr>
              <a:t>petcare.algorithms</a:t>
            </a:r>
            <a:endParaRPr lang="en-US" sz="900" dirty="0"/>
          </a:p>
        </p:txBody>
      </p:sp>
      <p:sp>
        <p:nvSpPr>
          <p:cNvPr id="37" name="Text 35"/>
          <p:cNvSpPr/>
          <p:nvPr/>
        </p:nvSpPr>
        <p:spPr>
          <a:xfrm>
            <a:off x="8503920" y="4846320"/>
            <a:ext cx="457200" cy="182880"/>
          </a:xfrm>
          <a:prstGeom prst="rect">
            <a:avLst/>
          </a:prstGeom>
          <a:noFill/>
          <a:ln/>
        </p:spPr>
        <p:txBody>
          <a:bodyPr wrap="square" lIns="0" tIns="0" rIns="0" bIns="0" rtlCol="0" anchor="ctr"/>
          <a:lstStyle/>
          <a:p>
            <a:pPr marL="0" indent="0">
              <a:buNone/>
            </a:pPr>
            <a:r>
              <a:rPr lang="en-US" sz="800" dirty="0">
                <a:solidFill>
                  <a:srgbClr val="6B7E9A"/>
                </a:solidFill>
              </a:rPr>
              <a:t>Slide 4</a:t>
            </a:r>
            <a:endParaRPr lang="en-US" sz="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5A82"/>
          </a:solidFill>
          <a:ln w="12700">
            <a:solidFill>
              <a:srgbClr val="065A82"/>
            </a:solidFill>
            <a:prstDash val="solid"/>
          </a:ln>
        </p:spPr>
      </p:sp>
      <p:sp>
        <p:nvSpPr>
          <p:cNvPr id="3" name="Text 1"/>
          <p:cNvSpPr/>
          <p:nvPr/>
        </p:nvSpPr>
        <p:spPr>
          <a:xfrm>
            <a:off x="365760" y="91440"/>
            <a:ext cx="8412480" cy="457200"/>
          </a:xfrm>
          <a:prstGeom prst="rect">
            <a:avLst/>
          </a:prstGeom>
          <a:noFill/>
          <a:ln/>
        </p:spPr>
        <p:txBody>
          <a:bodyPr wrap="square" lIns="0" tIns="0" rIns="0" bIns="0" rtlCol="0" anchor="ctr"/>
          <a:lstStyle/>
          <a:p>
            <a:pPr marL="0" indent="0">
              <a:buNone/>
            </a:pPr>
            <a:r>
              <a:rPr lang="en-US" sz="1800" b="1" dirty="0">
                <a:solidFill>
                  <a:srgbClr val="FFFFFF"/>
                </a:solidFill>
              </a:rPr>
              <a:t>SELECTED DATA STRUCTURES &amp; </a:t>
            </a:r>
            <a:r>
              <a:rPr lang="en-US" b="1" dirty="0">
                <a:solidFill>
                  <a:srgbClr val="FFFFFF"/>
                </a:solidFill>
              </a:rPr>
              <a:t>Structure </a:t>
            </a:r>
            <a:endParaRPr lang="en-US" sz="1800" dirty="0"/>
          </a:p>
        </p:txBody>
      </p:sp>
      <p:sp>
        <p:nvSpPr>
          <p:cNvPr id="4" name="Shape 2"/>
          <p:cNvSpPr/>
          <p:nvPr/>
        </p:nvSpPr>
        <p:spPr>
          <a:xfrm>
            <a:off x="274320" y="777240"/>
            <a:ext cx="4017010" cy="4251960"/>
          </a:xfrm>
          <a:prstGeom prst="rect">
            <a:avLst/>
          </a:prstGeom>
          <a:solidFill>
            <a:srgbClr val="EAF4FB"/>
          </a:solidFill>
          <a:ln w="12700">
            <a:solidFill>
              <a:srgbClr val="02C39A"/>
            </a:solidFill>
            <a:prstDash val="solid"/>
          </a:ln>
        </p:spPr>
      </p:sp>
      <p:sp>
        <p:nvSpPr>
          <p:cNvPr id="5" name="Text 3"/>
          <p:cNvSpPr/>
          <p:nvPr/>
        </p:nvSpPr>
        <p:spPr>
          <a:xfrm>
            <a:off x="457200" y="822960"/>
            <a:ext cx="4937760" cy="347472"/>
          </a:xfrm>
          <a:prstGeom prst="rect">
            <a:avLst/>
          </a:prstGeom>
          <a:noFill/>
          <a:ln/>
        </p:spPr>
        <p:txBody>
          <a:bodyPr wrap="square" lIns="0" tIns="0" rIns="0" bIns="0" rtlCol="0" anchor="ctr"/>
          <a:lstStyle/>
          <a:p>
            <a:pPr marL="0" indent="0">
              <a:buNone/>
            </a:pPr>
            <a:r>
              <a:rPr lang="en-US" sz="1300" b="1" dirty="0">
                <a:solidFill>
                  <a:srgbClr val="065A82"/>
                </a:solidFill>
              </a:rPr>
              <a:t>Data Structures Used</a:t>
            </a:r>
            <a:endParaRPr lang="en-US" sz="1300" dirty="0"/>
          </a:p>
        </p:txBody>
      </p:sp>
      <p:sp>
        <p:nvSpPr>
          <p:cNvPr id="6" name="Shape 4"/>
          <p:cNvSpPr/>
          <p:nvPr/>
        </p:nvSpPr>
        <p:spPr>
          <a:xfrm>
            <a:off x="457200" y="1353312"/>
            <a:ext cx="201168" cy="201168"/>
          </a:xfrm>
          <a:prstGeom prst="ellipse">
            <a:avLst/>
          </a:prstGeom>
          <a:solidFill>
            <a:srgbClr val="02C39A"/>
          </a:solidFill>
          <a:ln w="12700">
            <a:solidFill>
              <a:srgbClr val="02C39A"/>
            </a:solidFill>
            <a:prstDash val="solid"/>
          </a:ln>
        </p:spPr>
      </p:sp>
      <p:sp>
        <p:nvSpPr>
          <p:cNvPr id="7" name="Text 5"/>
          <p:cNvSpPr/>
          <p:nvPr/>
        </p:nvSpPr>
        <p:spPr>
          <a:xfrm>
            <a:off x="713232" y="1280160"/>
            <a:ext cx="2194560" cy="347472"/>
          </a:xfrm>
          <a:prstGeom prst="rect">
            <a:avLst/>
          </a:prstGeom>
          <a:noFill/>
          <a:ln/>
        </p:spPr>
        <p:txBody>
          <a:bodyPr wrap="square" lIns="0" tIns="0" rIns="0" bIns="0" rtlCol="0" anchor="ctr"/>
          <a:lstStyle/>
          <a:p>
            <a:pPr marL="0" indent="0">
              <a:buNone/>
            </a:pPr>
            <a:r>
              <a:rPr lang="en-US" sz="1100" dirty="0">
                <a:solidFill>
                  <a:srgbClr val="2D3748"/>
                </a:solidFill>
              </a:rPr>
              <a:t>BST</a:t>
            </a:r>
            <a:endParaRPr lang="en-US" sz="1100" dirty="0"/>
          </a:p>
        </p:txBody>
      </p:sp>
      <p:sp>
        <p:nvSpPr>
          <p:cNvPr id="8" name="Shape 6"/>
          <p:cNvSpPr/>
          <p:nvPr/>
        </p:nvSpPr>
        <p:spPr>
          <a:xfrm>
            <a:off x="3017520" y="1353312"/>
            <a:ext cx="201168" cy="201168"/>
          </a:xfrm>
          <a:prstGeom prst="ellipse">
            <a:avLst/>
          </a:prstGeom>
          <a:solidFill>
            <a:srgbClr val="02C39A"/>
          </a:solidFill>
          <a:ln w="12700">
            <a:solidFill>
              <a:srgbClr val="02C39A"/>
            </a:solidFill>
            <a:prstDash val="solid"/>
          </a:ln>
        </p:spPr>
      </p:sp>
      <p:sp>
        <p:nvSpPr>
          <p:cNvPr id="9" name="Text 7"/>
          <p:cNvSpPr/>
          <p:nvPr/>
        </p:nvSpPr>
        <p:spPr>
          <a:xfrm>
            <a:off x="3273552" y="1280160"/>
            <a:ext cx="2194560" cy="347472"/>
          </a:xfrm>
          <a:prstGeom prst="rect">
            <a:avLst/>
          </a:prstGeom>
          <a:noFill/>
          <a:ln/>
        </p:spPr>
        <p:txBody>
          <a:bodyPr wrap="square" lIns="0" tIns="0" rIns="0" bIns="0" rtlCol="0" anchor="ctr"/>
          <a:lstStyle/>
          <a:p>
            <a:pPr marL="0" indent="0">
              <a:buNone/>
            </a:pPr>
            <a:r>
              <a:rPr lang="en-US" sz="1100" dirty="0">
                <a:solidFill>
                  <a:srgbClr val="2D3748"/>
                </a:solidFill>
              </a:rPr>
              <a:t>AVL Tree</a:t>
            </a:r>
            <a:endParaRPr lang="en-US" sz="1100" dirty="0"/>
          </a:p>
        </p:txBody>
      </p:sp>
      <p:sp>
        <p:nvSpPr>
          <p:cNvPr id="10" name="Shape 8"/>
          <p:cNvSpPr/>
          <p:nvPr/>
        </p:nvSpPr>
        <p:spPr>
          <a:xfrm>
            <a:off x="457200" y="1901952"/>
            <a:ext cx="201168" cy="201168"/>
          </a:xfrm>
          <a:prstGeom prst="ellipse">
            <a:avLst/>
          </a:prstGeom>
          <a:solidFill>
            <a:srgbClr val="02C39A"/>
          </a:solidFill>
          <a:ln w="12700">
            <a:solidFill>
              <a:srgbClr val="02C39A"/>
            </a:solidFill>
            <a:prstDash val="solid"/>
          </a:ln>
        </p:spPr>
      </p:sp>
      <p:sp>
        <p:nvSpPr>
          <p:cNvPr id="11" name="Text 9"/>
          <p:cNvSpPr/>
          <p:nvPr/>
        </p:nvSpPr>
        <p:spPr>
          <a:xfrm>
            <a:off x="713232" y="1828800"/>
            <a:ext cx="2194560" cy="347472"/>
          </a:xfrm>
          <a:prstGeom prst="rect">
            <a:avLst/>
          </a:prstGeom>
          <a:noFill/>
          <a:ln/>
        </p:spPr>
        <p:txBody>
          <a:bodyPr wrap="square" lIns="0" tIns="0" rIns="0" bIns="0" rtlCol="0" anchor="ctr"/>
          <a:lstStyle/>
          <a:p>
            <a:pPr marL="0" indent="0">
              <a:buNone/>
            </a:pPr>
            <a:r>
              <a:rPr lang="en-US" sz="1100" dirty="0">
                <a:solidFill>
                  <a:srgbClr val="2D3748"/>
                </a:solidFill>
              </a:rPr>
              <a:t>B-Tree (order t)</a:t>
            </a:r>
            <a:endParaRPr lang="en-US" sz="1100" dirty="0"/>
          </a:p>
        </p:txBody>
      </p:sp>
      <p:sp>
        <p:nvSpPr>
          <p:cNvPr id="12" name="Shape 10"/>
          <p:cNvSpPr/>
          <p:nvPr/>
        </p:nvSpPr>
        <p:spPr>
          <a:xfrm>
            <a:off x="3017520" y="1901952"/>
            <a:ext cx="201168" cy="201168"/>
          </a:xfrm>
          <a:prstGeom prst="ellipse">
            <a:avLst/>
          </a:prstGeom>
          <a:solidFill>
            <a:srgbClr val="02C39A"/>
          </a:solidFill>
          <a:ln w="12700">
            <a:solidFill>
              <a:srgbClr val="02C39A"/>
            </a:solidFill>
            <a:prstDash val="solid"/>
          </a:ln>
        </p:spPr>
      </p:sp>
      <p:sp>
        <p:nvSpPr>
          <p:cNvPr id="13" name="Text 11"/>
          <p:cNvSpPr/>
          <p:nvPr/>
        </p:nvSpPr>
        <p:spPr>
          <a:xfrm>
            <a:off x="3273552" y="1828800"/>
            <a:ext cx="2194560" cy="347472"/>
          </a:xfrm>
          <a:prstGeom prst="rect">
            <a:avLst/>
          </a:prstGeom>
          <a:noFill/>
          <a:ln/>
        </p:spPr>
        <p:txBody>
          <a:bodyPr wrap="square" lIns="0" tIns="0" rIns="0" bIns="0" rtlCol="0" anchor="ctr"/>
          <a:lstStyle/>
          <a:p>
            <a:pPr marL="0" indent="0">
              <a:buNone/>
            </a:pPr>
            <a:r>
              <a:rPr lang="en-US" sz="1100" dirty="0">
                <a:solidFill>
                  <a:srgbClr val="2D3748"/>
                </a:solidFill>
              </a:rPr>
              <a:t>B+ Tree</a:t>
            </a:r>
            <a:endParaRPr lang="en-US" sz="1100" dirty="0"/>
          </a:p>
        </p:txBody>
      </p:sp>
      <p:sp>
        <p:nvSpPr>
          <p:cNvPr id="14" name="Shape 12"/>
          <p:cNvSpPr/>
          <p:nvPr/>
        </p:nvSpPr>
        <p:spPr>
          <a:xfrm>
            <a:off x="457200" y="2450592"/>
            <a:ext cx="201168" cy="201168"/>
          </a:xfrm>
          <a:prstGeom prst="ellipse">
            <a:avLst/>
          </a:prstGeom>
          <a:solidFill>
            <a:srgbClr val="02C39A"/>
          </a:solidFill>
          <a:ln w="12700">
            <a:solidFill>
              <a:srgbClr val="02C39A"/>
            </a:solidFill>
            <a:prstDash val="solid"/>
          </a:ln>
        </p:spPr>
      </p:sp>
      <p:sp>
        <p:nvSpPr>
          <p:cNvPr id="15" name="Text 13"/>
          <p:cNvSpPr/>
          <p:nvPr/>
        </p:nvSpPr>
        <p:spPr>
          <a:xfrm>
            <a:off x="713232" y="2377440"/>
            <a:ext cx="2194560" cy="347472"/>
          </a:xfrm>
          <a:prstGeom prst="rect">
            <a:avLst/>
          </a:prstGeom>
          <a:noFill/>
          <a:ln/>
        </p:spPr>
        <p:txBody>
          <a:bodyPr wrap="square" lIns="0" tIns="0" rIns="0" bIns="0" rtlCol="0" anchor="ctr"/>
          <a:lstStyle/>
          <a:p>
            <a:pPr marL="0" indent="0">
              <a:buNone/>
            </a:pPr>
            <a:r>
              <a:rPr lang="en-US" sz="1100" dirty="0">
                <a:solidFill>
                  <a:srgbClr val="2D3748"/>
                </a:solidFill>
              </a:rPr>
              <a:t>Segment Tree</a:t>
            </a:r>
            <a:endParaRPr lang="en-US" sz="1100" dirty="0"/>
          </a:p>
        </p:txBody>
      </p:sp>
      <p:sp>
        <p:nvSpPr>
          <p:cNvPr id="16" name="Shape 14"/>
          <p:cNvSpPr/>
          <p:nvPr/>
        </p:nvSpPr>
        <p:spPr>
          <a:xfrm>
            <a:off x="3017520" y="2450592"/>
            <a:ext cx="201168" cy="201168"/>
          </a:xfrm>
          <a:prstGeom prst="ellipse">
            <a:avLst/>
          </a:prstGeom>
          <a:solidFill>
            <a:srgbClr val="02C39A"/>
          </a:solidFill>
          <a:ln w="12700">
            <a:solidFill>
              <a:srgbClr val="02C39A"/>
            </a:solidFill>
            <a:prstDash val="solid"/>
          </a:ln>
        </p:spPr>
      </p:sp>
      <p:sp>
        <p:nvSpPr>
          <p:cNvPr id="17" name="Text 15"/>
          <p:cNvSpPr/>
          <p:nvPr/>
        </p:nvSpPr>
        <p:spPr>
          <a:xfrm>
            <a:off x="3273552" y="2377440"/>
            <a:ext cx="2194560" cy="347472"/>
          </a:xfrm>
          <a:prstGeom prst="rect">
            <a:avLst/>
          </a:prstGeom>
          <a:noFill/>
          <a:ln/>
        </p:spPr>
        <p:txBody>
          <a:bodyPr wrap="square" lIns="0" tIns="0" rIns="0" bIns="0" rtlCol="0" anchor="ctr"/>
          <a:lstStyle/>
          <a:p>
            <a:pPr marL="0" indent="0">
              <a:buNone/>
            </a:pPr>
            <a:r>
              <a:rPr lang="en-US" sz="1100" dirty="0">
                <a:solidFill>
                  <a:srgbClr val="2D3748"/>
                </a:solidFill>
              </a:rPr>
              <a:t>Fenwick Tree</a:t>
            </a:r>
            <a:endParaRPr lang="en-US" sz="1100" dirty="0"/>
          </a:p>
        </p:txBody>
      </p:sp>
      <p:sp>
        <p:nvSpPr>
          <p:cNvPr id="18" name="Shape 16"/>
          <p:cNvSpPr/>
          <p:nvPr/>
        </p:nvSpPr>
        <p:spPr>
          <a:xfrm>
            <a:off x="457200" y="2999232"/>
            <a:ext cx="201168" cy="201168"/>
          </a:xfrm>
          <a:prstGeom prst="ellipse">
            <a:avLst/>
          </a:prstGeom>
          <a:solidFill>
            <a:srgbClr val="02C39A"/>
          </a:solidFill>
          <a:ln w="12700">
            <a:solidFill>
              <a:srgbClr val="02C39A"/>
            </a:solidFill>
            <a:prstDash val="solid"/>
          </a:ln>
        </p:spPr>
      </p:sp>
      <p:sp>
        <p:nvSpPr>
          <p:cNvPr id="19" name="Text 17"/>
          <p:cNvSpPr/>
          <p:nvPr/>
        </p:nvSpPr>
        <p:spPr>
          <a:xfrm>
            <a:off x="713232" y="2926080"/>
            <a:ext cx="2194560" cy="347472"/>
          </a:xfrm>
          <a:prstGeom prst="rect">
            <a:avLst/>
          </a:prstGeom>
          <a:noFill/>
          <a:ln/>
        </p:spPr>
        <p:txBody>
          <a:bodyPr wrap="square" lIns="0" tIns="0" rIns="0" bIns="0" rtlCol="0" anchor="ctr"/>
          <a:lstStyle/>
          <a:p>
            <a:pPr marL="0" indent="0">
              <a:buNone/>
            </a:pPr>
            <a:r>
              <a:rPr lang="en-US" sz="1100" dirty="0">
                <a:solidFill>
                  <a:srgbClr val="2D3748"/>
                </a:solidFill>
              </a:rPr>
              <a:t>Graph (Adjacency List)</a:t>
            </a:r>
            <a:endParaRPr lang="en-US" sz="1100" dirty="0"/>
          </a:p>
        </p:txBody>
      </p:sp>
      <p:sp>
        <p:nvSpPr>
          <p:cNvPr id="20" name="Shape 18"/>
          <p:cNvSpPr/>
          <p:nvPr/>
        </p:nvSpPr>
        <p:spPr>
          <a:xfrm>
            <a:off x="3017520" y="2999232"/>
            <a:ext cx="201168" cy="201168"/>
          </a:xfrm>
          <a:prstGeom prst="ellipse">
            <a:avLst/>
          </a:prstGeom>
          <a:solidFill>
            <a:srgbClr val="02C39A"/>
          </a:solidFill>
          <a:ln w="12700">
            <a:solidFill>
              <a:srgbClr val="02C39A"/>
            </a:solidFill>
            <a:prstDash val="solid"/>
          </a:ln>
        </p:spPr>
      </p:sp>
      <p:sp>
        <p:nvSpPr>
          <p:cNvPr id="21" name="Text 19"/>
          <p:cNvSpPr/>
          <p:nvPr/>
        </p:nvSpPr>
        <p:spPr>
          <a:xfrm>
            <a:off x="3273552" y="2926080"/>
            <a:ext cx="2194560" cy="347472"/>
          </a:xfrm>
          <a:prstGeom prst="rect">
            <a:avLst/>
          </a:prstGeom>
          <a:noFill/>
          <a:ln/>
        </p:spPr>
        <p:txBody>
          <a:bodyPr wrap="square" lIns="0" tIns="0" rIns="0" bIns="0" rtlCol="0" anchor="ctr"/>
          <a:lstStyle/>
          <a:p>
            <a:pPr marL="0" indent="0">
              <a:buNone/>
            </a:pPr>
            <a:r>
              <a:rPr lang="en-US" sz="1100" dirty="0">
                <a:solidFill>
                  <a:srgbClr val="2D3748"/>
                </a:solidFill>
              </a:rPr>
              <a:t>Priority Queue</a:t>
            </a:r>
            <a:endParaRPr lang="en-US" sz="1100" dirty="0"/>
          </a:p>
        </p:txBody>
      </p:sp>
      <p:sp>
        <p:nvSpPr>
          <p:cNvPr id="22" name="Shape 20"/>
          <p:cNvSpPr/>
          <p:nvPr/>
        </p:nvSpPr>
        <p:spPr>
          <a:xfrm>
            <a:off x="457200" y="3547872"/>
            <a:ext cx="201168" cy="201168"/>
          </a:xfrm>
          <a:prstGeom prst="ellipse">
            <a:avLst/>
          </a:prstGeom>
          <a:solidFill>
            <a:srgbClr val="02C39A"/>
          </a:solidFill>
          <a:ln w="12700">
            <a:solidFill>
              <a:srgbClr val="02C39A"/>
            </a:solidFill>
            <a:prstDash val="solid"/>
          </a:ln>
        </p:spPr>
      </p:sp>
      <p:sp>
        <p:nvSpPr>
          <p:cNvPr id="23" name="Text 21"/>
          <p:cNvSpPr/>
          <p:nvPr/>
        </p:nvSpPr>
        <p:spPr>
          <a:xfrm>
            <a:off x="713232" y="3474720"/>
            <a:ext cx="2194560" cy="347472"/>
          </a:xfrm>
          <a:prstGeom prst="rect">
            <a:avLst/>
          </a:prstGeom>
          <a:noFill/>
          <a:ln/>
        </p:spPr>
        <p:txBody>
          <a:bodyPr wrap="square" lIns="0" tIns="0" rIns="0" bIns="0" rtlCol="0" anchor="ctr"/>
          <a:lstStyle/>
          <a:p>
            <a:pPr marL="0" indent="0">
              <a:buNone/>
            </a:pPr>
            <a:r>
              <a:rPr lang="en-US" sz="1100" dirty="0">
                <a:solidFill>
                  <a:srgbClr val="2D3748"/>
                </a:solidFill>
              </a:rPr>
              <a:t>Arrays</a:t>
            </a:r>
            <a:endParaRPr lang="en-US" sz="1100" dirty="0"/>
          </a:p>
        </p:txBody>
      </p:sp>
      <p:sp>
        <p:nvSpPr>
          <p:cNvPr id="28" name="Shape 26"/>
          <p:cNvSpPr/>
          <p:nvPr/>
        </p:nvSpPr>
        <p:spPr>
          <a:xfrm>
            <a:off x="4401057" y="777240"/>
            <a:ext cx="4683675" cy="4251960"/>
          </a:xfrm>
          <a:prstGeom prst="rect">
            <a:avLst/>
          </a:prstGeom>
          <a:solidFill>
            <a:srgbClr val="EAF4FB"/>
          </a:solidFill>
          <a:ln w="12700">
            <a:solidFill>
              <a:srgbClr val="02C39A"/>
            </a:solidFill>
            <a:prstDash val="solid"/>
          </a:ln>
        </p:spPr>
      </p:sp>
      <p:sp>
        <p:nvSpPr>
          <p:cNvPr id="35" name="Text 33"/>
          <p:cNvSpPr/>
          <p:nvPr/>
        </p:nvSpPr>
        <p:spPr>
          <a:xfrm>
            <a:off x="8503920" y="4846320"/>
            <a:ext cx="457200" cy="182880"/>
          </a:xfrm>
          <a:prstGeom prst="rect">
            <a:avLst/>
          </a:prstGeom>
          <a:noFill/>
          <a:ln/>
        </p:spPr>
        <p:txBody>
          <a:bodyPr wrap="square" lIns="0" tIns="0" rIns="0" bIns="0" rtlCol="0" anchor="ctr"/>
          <a:lstStyle/>
          <a:p>
            <a:pPr marL="0" indent="0">
              <a:buNone/>
            </a:pPr>
            <a:r>
              <a:rPr lang="en-US" sz="800" dirty="0">
                <a:solidFill>
                  <a:srgbClr val="6B7E9A"/>
                </a:solidFill>
              </a:rPr>
              <a:t>Slide 5</a:t>
            </a:r>
            <a:endParaRPr lang="en-US" sz="800" dirty="0"/>
          </a:p>
        </p:txBody>
      </p:sp>
      <p:sp>
        <p:nvSpPr>
          <p:cNvPr id="37" name="TextBox 36">
            <a:extLst>
              <a:ext uri="{FF2B5EF4-FFF2-40B4-BE49-F238E27FC236}">
                <a16:creationId xmlns:a16="http://schemas.microsoft.com/office/drawing/2014/main" id="{0F032DD1-E3B9-7B09-954E-C87406170D42}"/>
              </a:ext>
            </a:extLst>
          </p:cNvPr>
          <p:cNvSpPr txBox="1"/>
          <p:nvPr/>
        </p:nvSpPr>
        <p:spPr>
          <a:xfrm>
            <a:off x="4401058" y="822959"/>
            <a:ext cx="3303609" cy="4045471"/>
          </a:xfrm>
          <a:prstGeom prst="rect">
            <a:avLst/>
          </a:prstGeom>
          <a:noFill/>
        </p:spPr>
        <p:txBody>
          <a:bodyPr wrap="square">
            <a:spAutoFit/>
          </a:bodyPr>
          <a:lstStyle/>
          <a:p>
            <a:r>
              <a:rPr lang="en-IN" sz="1000" dirty="0"/>
              <a:t>PetCare/</a:t>
            </a:r>
          </a:p>
          <a:p>
            <a:r>
              <a:rPr lang="en-IN" sz="1000" dirty="0"/>
              <a:t>├── PetCareApp.java</a:t>
            </a:r>
          </a:p>
          <a:p>
            <a:r>
              <a:rPr lang="en-IN" sz="1000" dirty="0"/>
              <a:t>├── data/</a:t>
            </a:r>
          </a:p>
          <a:p>
            <a:r>
              <a:rPr lang="en-IN" sz="1000" dirty="0"/>
              <a:t>│   └── pets.csv</a:t>
            </a:r>
          </a:p>
          <a:p>
            <a:r>
              <a:rPr lang="en-IN" sz="1000" dirty="0"/>
              <a:t>├── models/</a:t>
            </a:r>
          </a:p>
          <a:p>
            <a:r>
              <a:rPr lang="en-IN" sz="1000" dirty="0"/>
              <a:t>│   ├── Pet.java</a:t>
            </a:r>
          </a:p>
          <a:p>
            <a:r>
              <a:rPr lang="en-IN" sz="1000" dirty="0"/>
              <a:t>│   ├── Treatment.java</a:t>
            </a:r>
          </a:p>
          <a:p>
            <a:r>
              <a:rPr lang="en-IN" sz="1000" dirty="0"/>
              <a:t>│   ├── Appointment.java</a:t>
            </a:r>
          </a:p>
          <a:p>
            <a:r>
              <a:rPr lang="en-IN" sz="1000" dirty="0"/>
              <a:t>│   ├── Vaccination.java</a:t>
            </a:r>
          </a:p>
          <a:p>
            <a:r>
              <a:rPr lang="en-IN" sz="1000" dirty="0"/>
              <a:t>│   └── Clinic.java</a:t>
            </a:r>
          </a:p>
          <a:p>
            <a:r>
              <a:rPr lang="en-IN" sz="1000" dirty="0"/>
              <a:t>├── utils/</a:t>
            </a:r>
          </a:p>
          <a:p>
            <a:r>
              <a:rPr lang="en-IN" sz="1000" dirty="0"/>
              <a:t>│   ├── AppData.java</a:t>
            </a:r>
          </a:p>
          <a:p>
            <a:r>
              <a:rPr lang="en-IN" sz="1000" dirty="0"/>
              <a:t>│   ├── CsvLoader.java</a:t>
            </a:r>
          </a:p>
          <a:p>
            <a:r>
              <a:rPr lang="en-IN" sz="1000" dirty="0"/>
              <a:t>│   ├── DataGenerator.java</a:t>
            </a:r>
          </a:p>
          <a:p>
            <a:r>
              <a:rPr lang="en-IN" sz="1000" dirty="0"/>
              <a:t>│   ├── DisplayUtils.java</a:t>
            </a:r>
          </a:p>
          <a:p>
            <a:r>
              <a:rPr lang="en-IN" sz="1000" dirty="0"/>
              <a:t>│   └── InputUtils.java</a:t>
            </a:r>
          </a:p>
          <a:p>
            <a:r>
              <a:rPr lang="en-IN" sz="1000" dirty="0"/>
              <a:t>├── menu/</a:t>
            </a:r>
          </a:p>
          <a:p>
            <a:r>
              <a:rPr lang="en-IN" sz="1000" dirty="0"/>
              <a:t>│   ├── MainMenu.java</a:t>
            </a:r>
          </a:p>
          <a:p>
            <a:r>
              <a:rPr lang="en-IN" sz="1000" dirty="0"/>
              <a:t>│   ├── StartupMenu.java</a:t>
            </a:r>
          </a:p>
          <a:p>
            <a:r>
              <a:rPr lang="en-IN" sz="1000" dirty="0"/>
              <a:t>│   ├── TreesMenu.java</a:t>
            </a:r>
          </a:p>
          <a:p>
            <a:r>
              <a:rPr lang="en-IN" sz="1000" dirty="0"/>
              <a:t>│   ├── MultiwayTreesMenu.java</a:t>
            </a:r>
          </a:p>
          <a:p>
            <a:r>
              <a:rPr lang="en-IN" sz="1000" dirty="0"/>
              <a:t>│   ├── GraphsMenu.java</a:t>
            </a:r>
          </a:p>
          <a:p>
            <a:r>
              <a:rPr lang="en-IN" sz="1000" dirty="0"/>
              <a:t>│   ├── ShortestPathMenu.java</a:t>
            </a:r>
          </a:p>
          <a:p>
            <a:r>
              <a:rPr lang="en-IN" sz="1000" dirty="0"/>
              <a:t>│   ├── SortingMenu.java</a:t>
            </a:r>
          </a:p>
          <a:p>
            <a:r>
              <a:rPr lang="en-IN" sz="1000" dirty="0"/>
              <a:t>│   └── GreedyDPMenu.java</a:t>
            </a:r>
          </a:p>
        </p:txBody>
      </p:sp>
      <p:sp>
        <p:nvSpPr>
          <p:cNvPr id="39" name="TextBox 38">
            <a:extLst>
              <a:ext uri="{FF2B5EF4-FFF2-40B4-BE49-F238E27FC236}">
                <a16:creationId xmlns:a16="http://schemas.microsoft.com/office/drawing/2014/main" id="{E958696D-3AEA-85CF-1F75-17694583A36F}"/>
              </a:ext>
            </a:extLst>
          </p:cNvPr>
          <p:cNvSpPr txBox="1"/>
          <p:nvPr/>
        </p:nvSpPr>
        <p:spPr>
          <a:xfrm>
            <a:off x="6224725" y="912206"/>
            <a:ext cx="2047118" cy="3816429"/>
          </a:xfrm>
          <a:prstGeom prst="rect">
            <a:avLst/>
          </a:prstGeom>
          <a:noFill/>
        </p:spPr>
        <p:txBody>
          <a:bodyPr wrap="square">
            <a:spAutoFit/>
          </a:bodyPr>
          <a:lstStyle/>
          <a:p>
            <a:r>
              <a:rPr lang="en-IN" sz="1100" dirty="0"/>
              <a:t>├── trees/</a:t>
            </a:r>
          </a:p>
          <a:p>
            <a:r>
              <a:rPr lang="en-IN" sz="1100" dirty="0"/>
              <a:t>│   ├── BST.java</a:t>
            </a:r>
          </a:p>
          <a:p>
            <a:r>
              <a:rPr lang="en-IN" sz="1100" dirty="0"/>
              <a:t>│   ├── AVLTree.java</a:t>
            </a:r>
          </a:p>
          <a:p>
            <a:r>
              <a:rPr lang="en-IN" sz="1100" dirty="0"/>
              <a:t>│   ├── BTree.java</a:t>
            </a:r>
          </a:p>
          <a:p>
            <a:r>
              <a:rPr lang="en-IN" sz="1100" dirty="0"/>
              <a:t>│   ├── BPlusTree.java</a:t>
            </a:r>
          </a:p>
          <a:p>
            <a:r>
              <a:rPr lang="en-IN" sz="1100" dirty="0"/>
              <a:t>│   ├── SegmentTree.java</a:t>
            </a:r>
          </a:p>
          <a:p>
            <a:r>
              <a:rPr lang="en-IN" sz="1100" dirty="0"/>
              <a:t>│   └── FenwickTree.java</a:t>
            </a:r>
          </a:p>
          <a:p>
            <a:r>
              <a:rPr lang="en-IN" sz="1100" dirty="0"/>
              <a:t>├── graphs/</a:t>
            </a:r>
          </a:p>
          <a:p>
            <a:r>
              <a:rPr lang="en-IN" sz="1100" dirty="0"/>
              <a:t>│   ├── Graph.java</a:t>
            </a:r>
          </a:p>
          <a:p>
            <a:r>
              <a:rPr lang="en-IN" sz="1100" dirty="0"/>
              <a:t>│   ├── BFS.java</a:t>
            </a:r>
          </a:p>
          <a:p>
            <a:r>
              <a:rPr lang="en-IN" sz="1100" dirty="0"/>
              <a:t>│   ├── DFS.java</a:t>
            </a:r>
          </a:p>
          <a:p>
            <a:r>
              <a:rPr lang="en-IN" sz="1100" dirty="0"/>
              <a:t>│   ├── Kruskal.java</a:t>
            </a:r>
          </a:p>
          <a:p>
            <a:r>
              <a:rPr lang="en-IN" sz="1100" dirty="0"/>
              <a:t>│   └── Prim.java</a:t>
            </a:r>
          </a:p>
          <a:p>
            <a:r>
              <a:rPr lang="en-IN" sz="1100" dirty="0"/>
              <a:t>├── algorithms/</a:t>
            </a:r>
          </a:p>
          <a:p>
            <a:r>
              <a:rPr lang="en-IN" sz="1100" dirty="0"/>
              <a:t>│   ├── Dijkstra.java</a:t>
            </a:r>
          </a:p>
          <a:p>
            <a:r>
              <a:rPr lang="en-IN" sz="1100" dirty="0"/>
              <a:t>│   ├── BellmanFord.java</a:t>
            </a:r>
          </a:p>
          <a:p>
            <a:r>
              <a:rPr lang="en-IN" sz="1100" dirty="0"/>
              <a:t>│   ├── FloydWarshall.java</a:t>
            </a:r>
          </a:p>
          <a:p>
            <a:r>
              <a:rPr lang="en-IN" sz="1100" dirty="0"/>
              <a:t>│   ├── TopologicalSort.java</a:t>
            </a:r>
          </a:p>
          <a:p>
            <a:r>
              <a:rPr lang="en-IN" sz="1100" dirty="0"/>
              <a:t>│   ├── ActivitySelection.java</a:t>
            </a:r>
          </a:p>
          <a:p>
            <a:r>
              <a:rPr lang="en-IN" sz="1100" dirty="0"/>
              <a:t>│   ├── FractionalKnapsack.java</a:t>
            </a:r>
          </a:p>
          <a:p>
            <a:r>
              <a:rPr lang="en-IN" sz="1100" dirty="0"/>
              <a:t>│   ├── ZeroOneKnapsack.java</a:t>
            </a:r>
          </a:p>
          <a:p>
            <a:r>
              <a:rPr lang="en-IN" sz="1100" dirty="0"/>
              <a:t>│   └── LIS.java</a:t>
            </a:r>
          </a:p>
        </p:txBody>
      </p:sp>
      <p:sp>
        <p:nvSpPr>
          <p:cNvPr id="41" name="TextBox 40">
            <a:extLst>
              <a:ext uri="{FF2B5EF4-FFF2-40B4-BE49-F238E27FC236}">
                <a16:creationId xmlns:a16="http://schemas.microsoft.com/office/drawing/2014/main" id="{BA48671E-6501-BD6D-1479-F2516CFD1440}"/>
              </a:ext>
            </a:extLst>
          </p:cNvPr>
          <p:cNvSpPr txBox="1"/>
          <p:nvPr/>
        </p:nvSpPr>
        <p:spPr>
          <a:xfrm>
            <a:off x="7567206" y="798238"/>
            <a:ext cx="1938866" cy="1015663"/>
          </a:xfrm>
          <a:prstGeom prst="rect">
            <a:avLst/>
          </a:prstGeom>
          <a:noFill/>
        </p:spPr>
        <p:txBody>
          <a:bodyPr wrap="square">
            <a:spAutoFit/>
          </a:bodyPr>
          <a:lstStyle/>
          <a:p>
            <a:r>
              <a:rPr lang="en-IN" sz="1200" dirty="0"/>
              <a:t>└── sorting/</a:t>
            </a:r>
          </a:p>
          <a:p>
            <a:r>
              <a:rPr lang="en-IN" sz="1200" dirty="0"/>
              <a:t>    ├── MergeSort.java</a:t>
            </a:r>
          </a:p>
          <a:p>
            <a:r>
              <a:rPr lang="en-IN" sz="1200" dirty="0"/>
              <a:t>    ├── QuickSort.java</a:t>
            </a:r>
          </a:p>
          <a:p>
            <a:r>
              <a:rPr lang="en-IN" sz="1200" dirty="0"/>
              <a:t>    ├── HeapSort.java</a:t>
            </a:r>
          </a:p>
          <a:p>
            <a:r>
              <a:rPr lang="en-IN" sz="1200" dirty="0"/>
              <a:t>    └── RadixSort.java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5A82"/>
          </a:solidFill>
          <a:ln w="12700">
            <a:solidFill>
              <a:srgbClr val="065A82"/>
            </a:solidFill>
            <a:prstDash val="solid"/>
          </a:ln>
        </p:spPr>
      </p:sp>
      <p:sp>
        <p:nvSpPr>
          <p:cNvPr id="3" name="Text 1"/>
          <p:cNvSpPr/>
          <p:nvPr/>
        </p:nvSpPr>
        <p:spPr>
          <a:xfrm>
            <a:off x="365760" y="91440"/>
            <a:ext cx="8412480" cy="457200"/>
          </a:xfrm>
          <a:prstGeom prst="rect">
            <a:avLst/>
          </a:prstGeom>
          <a:noFill/>
          <a:ln/>
        </p:spPr>
        <p:txBody>
          <a:bodyPr wrap="square" lIns="0" tIns="0" rIns="0" bIns="0" rtlCol="0" anchor="ctr"/>
          <a:lstStyle/>
          <a:p>
            <a:pPr marL="0" indent="0">
              <a:buNone/>
            </a:pPr>
            <a:r>
              <a:rPr lang="en-US" sz="1800" dirty="0"/>
              <a:t>Modules</a:t>
            </a:r>
          </a:p>
        </p:txBody>
      </p:sp>
      <p:sp>
        <p:nvSpPr>
          <p:cNvPr id="4" name="Text 2"/>
          <p:cNvSpPr/>
          <p:nvPr/>
        </p:nvSpPr>
        <p:spPr>
          <a:xfrm>
            <a:off x="365760" y="749808"/>
            <a:ext cx="8412480" cy="320040"/>
          </a:xfrm>
          <a:prstGeom prst="rect">
            <a:avLst/>
          </a:prstGeom>
          <a:noFill/>
          <a:ln/>
        </p:spPr>
        <p:txBody>
          <a:bodyPr wrap="square" lIns="0" tIns="0" rIns="0" bIns="0" rtlCol="0" anchor="ctr"/>
          <a:lstStyle/>
          <a:p>
            <a:pPr marL="0" indent="0">
              <a:buNone/>
            </a:pPr>
            <a:r>
              <a:rPr lang="en-US" sz="1200" i="1" dirty="0">
                <a:solidFill>
                  <a:srgbClr val="6B7E9A"/>
                </a:solidFill>
              </a:rPr>
              <a:t>45 pre-loaded CSV pet records &amp; 5  modules</a:t>
            </a:r>
            <a:endParaRPr lang="en-US" sz="1200" dirty="0"/>
          </a:p>
        </p:txBody>
      </p:sp>
      <p:sp>
        <p:nvSpPr>
          <p:cNvPr id="5" name="Shape 3"/>
          <p:cNvSpPr/>
          <p:nvPr/>
        </p:nvSpPr>
        <p:spPr>
          <a:xfrm>
            <a:off x="274320" y="1170432"/>
            <a:ext cx="2788920" cy="1554480"/>
          </a:xfrm>
          <a:prstGeom prst="rect">
            <a:avLst/>
          </a:prstGeom>
          <a:solidFill>
            <a:srgbClr val="F9FBFD"/>
          </a:solidFill>
          <a:ln w="12700">
            <a:solidFill>
              <a:srgbClr val="065A82"/>
            </a:solidFill>
            <a:prstDash val="solid"/>
          </a:ln>
        </p:spPr>
      </p:sp>
      <p:sp>
        <p:nvSpPr>
          <p:cNvPr id="6" name="Shape 4"/>
          <p:cNvSpPr/>
          <p:nvPr/>
        </p:nvSpPr>
        <p:spPr>
          <a:xfrm>
            <a:off x="274320" y="1170432"/>
            <a:ext cx="2788920" cy="438912"/>
          </a:xfrm>
          <a:prstGeom prst="rect">
            <a:avLst/>
          </a:prstGeom>
          <a:solidFill>
            <a:srgbClr val="065A82"/>
          </a:solidFill>
          <a:ln w="12700">
            <a:solidFill>
              <a:srgbClr val="065A82"/>
            </a:solidFill>
            <a:prstDash val="solid"/>
          </a:ln>
        </p:spPr>
      </p:sp>
      <p:sp>
        <p:nvSpPr>
          <p:cNvPr id="7" name="Text 5"/>
          <p:cNvSpPr/>
          <p:nvPr/>
        </p:nvSpPr>
        <p:spPr>
          <a:xfrm>
            <a:off x="365760" y="1170432"/>
            <a:ext cx="2606040" cy="438912"/>
          </a:xfrm>
          <a:prstGeom prst="rect">
            <a:avLst/>
          </a:prstGeom>
          <a:noFill/>
          <a:ln/>
        </p:spPr>
        <p:txBody>
          <a:bodyPr wrap="square" lIns="0" tIns="0" rIns="0" bIns="0" rtlCol="0" anchor="ctr"/>
          <a:lstStyle/>
          <a:p>
            <a:pPr marL="0" indent="0">
              <a:buNone/>
            </a:pPr>
            <a:r>
              <a:rPr lang="en-US" sz="1200" b="1" dirty="0">
                <a:solidFill>
                  <a:srgbClr val="FFFFFF"/>
                </a:solidFill>
              </a:rPr>
              <a:t>M1 — Trees</a:t>
            </a:r>
            <a:endParaRPr lang="en-US" sz="1200" dirty="0"/>
          </a:p>
        </p:txBody>
      </p:sp>
      <p:sp>
        <p:nvSpPr>
          <p:cNvPr id="8" name="Text 6"/>
          <p:cNvSpPr/>
          <p:nvPr/>
        </p:nvSpPr>
        <p:spPr>
          <a:xfrm>
            <a:off x="384048" y="1673352"/>
            <a:ext cx="2578608" cy="960120"/>
          </a:xfrm>
          <a:prstGeom prst="rect">
            <a:avLst/>
          </a:prstGeom>
          <a:noFill/>
          <a:ln/>
        </p:spPr>
        <p:txBody>
          <a:bodyPr wrap="square" lIns="0" tIns="0" rIns="0" bIns="0" rtlCol="0" anchor="ctr"/>
          <a:lstStyle/>
          <a:p>
            <a:pPr marL="0" indent="0">
              <a:buNone/>
            </a:pPr>
            <a:r>
              <a:rPr lang="en-US" sz="1000" dirty="0">
                <a:solidFill>
                  <a:srgbClr val="3D4A5C"/>
                </a:solidFill>
              </a:rPr>
              <a:t>AVL insert/search/delete · BST traversals · height comparison </a:t>
            </a:r>
            <a:endParaRPr lang="en-US" sz="1000" dirty="0"/>
          </a:p>
        </p:txBody>
      </p:sp>
      <p:sp>
        <p:nvSpPr>
          <p:cNvPr id="9" name="Shape 7"/>
          <p:cNvSpPr/>
          <p:nvPr/>
        </p:nvSpPr>
        <p:spPr>
          <a:xfrm>
            <a:off x="3200400" y="1170432"/>
            <a:ext cx="2788920" cy="1554480"/>
          </a:xfrm>
          <a:prstGeom prst="rect">
            <a:avLst/>
          </a:prstGeom>
          <a:solidFill>
            <a:srgbClr val="F9FBFD"/>
          </a:solidFill>
          <a:ln w="12700">
            <a:solidFill>
              <a:srgbClr val="02C39A"/>
            </a:solidFill>
            <a:prstDash val="solid"/>
          </a:ln>
        </p:spPr>
      </p:sp>
      <p:sp>
        <p:nvSpPr>
          <p:cNvPr id="10" name="Shape 8"/>
          <p:cNvSpPr/>
          <p:nvPr/>
        </p:nvSpPr>
        <p:spPr>
          <a:xfrm>
            <a:off x="3200400" y="1170432"/>
            <a:ext cx="2788920" cy="438912"/>
          </a:xfrm>
          <a:prstGeom prst="rect">
            <a:avLst/>
          </a:prstGeom>
          <a:solidFill>
            <a:srgbClr val="02C39A"/>
          </a:solidFill>
          <a:ln w="12700">
            <a:solidFill>
              <a:srgbClr val="02C39A"/>
            </a:solidFill>
            <a:prstDash val="solid"/>
          </a:ln>
        </p:spPr>
      </p:sp>
      <p:sp>
        <p:nvSpPr>
          <p:cNvPr id="11" name="Text 9"/>
          <p:cNvSpPr/>
          <p:nvPr/>
        </p:nvSpPr>
        <p:spPr>
          <a:xfrm>
            <a:off x="3291840" y="1170432"/>
            <a:ext cx="2606040" cy="438912"/>
          </a:xfrm>
          <a:prstGeom prst="rect">
            <a:avLst/>
          </a:prstGeom>
          <a:noFill/>
          <a:ln/>
        </p:spPr>
        <p:txBody>
          <a:bodyPr wrap="square" lIns="0" tIns="0" rIns="0" bIns="0" rtlCol="0" anchor="ctr"/>
          <a:lstStyle/>
          <a:p>
            <a:pPr marL="0" indent="0">
              <a:buNone/>
            </a:pPr>
            <a:r>
              <a:rPr lang="en-US" sz="1200" b="1" dirty="0">
                <a:solidFill>
                  <a:srgbClr val="FFFFFF"/>
                </a:solidFill>
              </a:rPr>
              <a:t>M2 — Multiway</a:t>
            </a:r>
            <a:endParaRPr lang="en-US" sz="1200" dirty="0"/>
          </a:p>
        </p:txBody>
      </p:sp>
      <p:sp>
        <p:nvSpPr>
          <p:cNvPr id="12" name="Text 10"/>
          <p:cNvSpPr/>
          <p:nvPr/>
        </p:nvSpPr>
        <p:spPr>
          <a:xfrm>
            <a:off x="3310128" y="1673352"/>
            <a:ext cx="2578608" cy="960120"/>
          </a:xfrm>
          <a:prstGeom prst="rect">
            <a:avLst/>
          </a:prstGeom>
          <a:noFill/>
          <a:ln/>
        </p:spPr>
        <p:txBody>
          <a:bodyPr wrap="square" lIns="0" tIns="0" rIns="0" bIns="0" rtlCol="0" anchor="ctr"/>
          <a:lstStyle/>
          <a:p>
            <a:pPr marL="0" indent="0">
              <a:buNone/>
            </a:pPr>
            <a:r>
              <a:rPr lang="en-US" sz="1000" dirty="0">
                <a:solidFill>
                  <a:srgbClr val="3D4A5C"/>
                </a:solidFill>
              </a:rPr>
              <a:t>B-Tree search · B+ Tree range query · Segment &amp; Fenwick sums</a:t>
            </a:r>
            <a:endParaRPr lang="en-US" sz="1000" dirty="0"/>
          </a:p>
        </p:txBody>
      </p:sp>
      <p:sp>
        <p:nvSpPr>
          <p:cNvPr id="13" name="Shape 11"/>
          <p:cNvSpPr/>
          <p:nvPr/>
        </p:nvSpPr>
        <p:spPr>
          <a:xfrm>
            <a:off x="6126480" y="1170432"/>
            <a:ext cx="2788920" cy="1554480"/>
          </a:xfrm>
          <a:prstGeom prst="rect">
            <a:avLst/>
          </a:prstGeom>
          <a:solidFill>
            <a:srgbClr val="F9FBFD"/>
          </a:solidFill>
          <a:ln w="12700">
            <a:solidFill>
              <a:srgbClr val="7B2D8B"/>
            </a:solidFill>
            <a:prstDash val="solid"/>
          </a:ln>
        </p:spPr>
      </p:sp>
      <p:sp>
        <p:nvSpPr>
          <p:cNvPr id="14" name="Shape 12"/>
          <p:cNvSpPr/>
          <p:nvPr/>
        </p:nvSpPr>
        <p:spPr>
          <a:xfrm>
            <a:off x="6126480" y="1170432"/>
            <a:ext cx="2788920" cy="438912"/>
          </a:xfrm>
          <a:prstGeom prst="rect">
            <a:avLst/>
          </a:prstGeom>
          <a:solidFill>
            <a:srgbClr val="7B2D8B"/>
          </a:solidFill>
          <a:ln w="12700">
            <a:solidFill>
              <a:srgbClr val="7B2D8B"/>
            </a:solidFill>
            <a:prstDash val="solid"/>
          </a:ln>
        </p:spPr>
      </p:sp>
      <p:sp>
        <p:nvSpPr>
          <p:cNvPr id="15" name="Text 13"/>
          <p:cNvSpPr/>
          <p:nvPr/>
        </p:nvSpPr>
        <p:spPr>
          <a:xfrm>
            <a:off x="6217920" y="1170432"/>
            <a:ext cx="2606040" cy="438912"/>
          </a:xfrm>
          <a:prstGeom prst="rect">
            <a:avLst/>
          </a:prstGeom>
          <a:noFill/>
          <a:ln/>
        </p:spPr>
        <p:txBody>
          <a:bodyPr wrap="square" lIns="0" tIns="0" rIns="0" bIns="0" rtlCol="0" anchor="ctr"/>
          <a:lstStyle/>
          <a:p>
            <a:pPr marL="0" indent="0">
              <a:buNone/>
            </a:pPr>
            <a:r>
              <a:rPr lang="en-US" sz="1200" b="1" dirty="0">
                <a:solidFill>
                  <a:srgbClr val="FFFFFF"/>
                </a:solidFill>
              </a:rPr>
              <a:t>M3 — Graphs</a:t>
            </a:r>
            <a:endParaRPr lang="en-US" sz="1200" dirty="0"/>
          </a:p>
        </p:txBody>
      </p:sp>
      <p:sp>
        <p:nvSpPr>
          <p:cNvPr id="16" name="Text 14"/>
          <p:cNvSpPr/>
          <p:nvPr/>
        </p:nvSpPr>
        <p:spPr>
          <a:xfrm>
            <a:off x="6236208" y="1673352"/>
            <a:ext cx="2578608" cy="960120"/>
          </a:xfrm>
          <a:prstGeom prst="rect">
            <a:avLst/>
          </a:prstGeom>
          <a:noFill/>
          <a:ln/>
        </p:spPr>
        <p:txBody>
          <a:bodyPr wrap="square" lIns="0" tIns="0" rIns="0" bIns="0" rtlCol="0" anchor="ctr"/>
          <a:lstStyle/>
          <a:p>
            <a:pPr marL="0" indent="0">
              <a:buNone/>
            </a:pPr>
            <a:r>
              <a:rPr lang="en-US" sz="1000" dirty="0">
                <a:solidFill>
                  <a:srgbClr val="3D4A5C"/>
                </a:solidFill>
              </a:rPr>
              <a:t>BFS hop-distances · DFS components · Kruskal &amp; Prim MST</a:t>
            </a:r>
            <a:endParaRPr lang="en-US" sz="1000" dirty="0"/>
          </a:p>
        </p:txBody>
      </p:sp>
      <p:sp>
        <p:nvSpPr>
          <p:cNvPr id="17" name="Shape 15"/>
          <p:cNvSpPr/>
          <p:nvPr/>
        </p:nvSpPr>
        <p:spPr>
          <a:xfrm>
            <a:off x="274320" y="2907792"/>
            <a:ext cx="2788920" cy="1554480"/>
          </a:xfrm>
          <a:prstGeom prst="rect">
            <a:avLst/>
          </a:prstGeom>
          <a:solidFill>
            <a:srgbClr val="F9FBFD"/>
          </a:solidFill>
          <a:ln w="12700">
            <a:solidFill>
              <a:srgbClr val="C0392B"/>
            </a:solidFill>
            <a:prstDash val="solid"/>
          </a:ln>
        </p:spPr>
      </p:sp>
      <p:sp>
        <p:nvSpPr>
          <p:cNvPr id="18" name="Shape 16"/>
          <p:cNvSpPr/>
          <p:nvPr/>
        </p:nvSpPr>
        <p:spPr>
          <a:xfrm>
            <a:off x="274320" y="2907792"/>
            <a:ext cx="2788920" cy="438912"/>
          </a:xfrm>
          <a:prstGeom prst="rect">
            <a:avLst/>
          </a:prstGeom>
          <a:solidFill>
            <a:srgbClr val="C0392B"/>
          </a:solidFill>
          <a:ln w="12700">
            <a:solidFill>
              <a:srgbClr val="C0392B"/>
            </a:solidFill>
            <a:prstDash val="solid"/>
          </a:ln>
        </p:spPr>
      </p:sp>
      <p:sp>
        <p:nvSpPr>
          <p:cNvPr id="19" name="Text 17"/>
          <p:cNvSpPr/>
          <p:nvPr/>
        </p:nvSpPr>
        <p:spPr>
          <a:xfrm>
            <a:off x="365760" y="2907792"/>
            <a:ext cx="2606040" cy="438912"/>
          </a:xfrm>
          <a:prstGeom prst="rect">
            <a:avLst/>
          </a:prstGeom>
          <a:noFill/>
          <a:ln/>
        </p:spPr>
        <p:txBody>
          <a:bodyPr wrap="square" lIns="0" tIns="0" rIns="0" bIns="0" rtlCol="0" anchor="ctr"/>
          <a:lstStyle/>
          <a:p>
            <a:pPr marL="0" indent="0">
              <a:buNone/>
            </a:pPr>
            <a:r>
              <a:rPr lang="en-US" sz="1200" b="1" dirty="0">
                <a:solidFill>
                  <a:srgbClr val="FFFFFF"/>
                </a:solidFill>
              </a:rPr>
              <a:t>M4 — Paths</a:t>
            </a:r>
            <a:endParaRPr lang="en-US" sz="1200" dirty="0"/>
          </a:p>
        </p:txBody>
      </p:sp>
      <p:sp>
        <p:nvSpPr>
          <p:cNvPr id="20" name="Text 18"/>
          <p:cNvSpPr/>
          <p:nvPr/>
        </p:nvSpPr>
        <p:spPr>
          <a:xfrm>
            <a:off x="384048" y="3410712"/>
            <a:ext cx="2578608" cy="960120"/>
          </a:xfrm>
          <a:prstGeom prst="rect">
            <a:avLst/>
          </a:prstGeom>
          <a:noFill/>
          <a:ln/>
        </p:spPr>
        <p:txBody>
          <a:bodyPr wrap="square" lIns="0" tIns="0" rIns="0" bIns="0" rtlCol="0" anchor="ctr"/>
          <a:lstStyle/>
          <a:p>
            <a:pPr marL="0" indent="0">
              <a:buNone/>
            </a:pPr>
            <a:r>
              <a:rPr lang="en-US" sz="1000" dirty="0">
                <a:solidFill>
                  <a:srgbClr val="3D4A5C"/>
                </a:solidFill>
              </a:rPr>
              <a:t>Dijkstra · Bellman-Ford · Floyd-Warshall · Topological Sort</a:t>
            </a:r>
            <a:endParaRPr lang="en-US" sz="1000" dirty="0"/>
          </a:p>
        </p:txBody>
      </p:sp>
      <p:sp>
        <p:nvSpPr>
          <p:cNvPr id="21" name="Shape 19"/>
          <p:cNvSpPr/>
          <p:nvPr/>
        </p:nvSpPr>
        <p:spPr>
          <a:xfrm>
            <a:off x="3200400" y="2907792"/>
            <a:ext cx="2788920" cy="1554480"/>
          </a:xfrm>
          <a:prstGeom prst="rect">
            <a:avLst/>
          </a:prstGeom>
          <a:solidFill>
            <a:srgbClr val="F9FBFD"/>
          </a:solidFill>
          <a:ln w="12700">
            <a:solidFill>
              <a:srgbClr val="F7B731"/>
            </a:solidFill>
            <a:prstDash val="solid"/>
          </a:ln>
        </p:spPr>
      </p:sp>
      <p:sp>
        <p:nvSpPr>
          <p:cNvPr id="22" name="Shape 20"/>
          <p:cNvSpPr/>
          <p:nvPr/>
        </p:nvSpPr>
        <p:spPr>
          <a:xfrm>
            <a:off x="3200400" y="2907792"/>
            <a:ext cx="2788920" cy="438912"/>
          </a:xfrm>
          <a:prstGeom prst="rect">
            <a:avLst/>
          </a:prstGeom>
          <a:solidFill>
            <a:srgbClr val="F7B731"/>
          </a:solidFill>
          <a:ln w="12700">
            <a:solidFill>
              <a:srgbClr val="F7B731"/>
            </a:solidFill>
            <a:prstDash val="solid"/>
          </a:ln>
        </p:spPr>
      </p:sp>
      <p:sp>
        <p:nvSpPr>
          <p:cNvPr id="23" name="Text 21"/>
          <p:cNvSpPr/>
          <p:nvPr/>
        </p:nvSpPr>
        <p:spPr>
          <a:xfrm>
            <a:off x="3291840" y="2907792"/>
            <a:ext cx="2606040" cy="438912"/>
          </a:xfrm>
          <a:prstGeom prst="rect">
            <a:avLst/>
          </a:prstGeom>
          <a:noFill/>
          <a:ln/>
        </p:spPr>
        <p:txBody>
          <a:bodyPr wrap="square" lIns="0" tIns="0" rIns="0" bIns="0" rtlCol="0" anchor="ctr"/>
          <a:lstStyle/>
          <a:p>
            <a:pPr marL="0" indent="0">
              <a:buNone/>
            </a:pPr>
            <a:r>
              <a:rPr lang="en-US" sz="1200" b="1" dirty="0">
                <a:solidFill>
                  <a:srgbClr val="FFFFFF"/>
                </a:solidFill>
              </a:rPr>
              <a:t>M5 — Sorting</a:t>
            </a:r>
            <a:endParaRPr lang="en-US" sz="1200" dirty="0"/>
          </a:p>
        </p:txBody>
      </p:sp>
      <p:sp>
        <p:nvSpPr>
          <p:cNvPr id="24" name="Text 22"/>
          <p:cNvSpPr/>
          <p:nvPr/>
        </p:nvSpPr>
        <p:spPr>
          <a:xfrm>
            <a:off x="3310128" y="3410712"/>
            <a:ext cx="2578608" cy="960120"/>
          </a:xfrm>
          <a:prstGeom prst="rect">
            <a:avLst/>
          </a:prstGeom>
          <a:noFill/>
          <a:ln/>
        </p:spPr>
        <p:txBody>
          <a:bodyPr wrap="square" lIns="0" tIns="0" rIns="0" bIns="0" rtlCol="0" anchor="ctr"/>
          <a:lstStyle/>
          <a:p>
            <a:pPr marL="0" indent="0">
              <a:buNone/>
            </a:pPr>
            <a:r>
              <a:rPr lang="en-US" sz="1000" dirty="0">
                <a:solidFill>
                  <a:srgbClr val="3D4A5C"/>
                </a:solidFill>
              </a:rPr>
              <a:t>Merge Sort (by cost) · Quick Sort (by frequency) · Heap/Radix — Soon</a:t>
            </a:r>
            <a:endParaRPr lang="en-US" sz="1000" dirty="0"/>
          </a:p>
        </p:txBody>
      </p:sp>
      <p:sp>
        <p:nvSpPr>
          <p:cNvPr id="25" name="Shape 23"/>
          <p:cNvSpPr/>
          <p:nvPr/>
        </p:nvSpPr>
        <p:spPr>
          <a:xfrm>
            <a:off x="6126480" y="2907792"/>
            <a:ext cx="2788920" cy="1554480"/>
          </a:xfrm>
          <a:prstGeom prst="rect">
            <a:avLst/>
          </a:prstGeom>
          <a:solidFill>
            <a:srgbClr val="F9FBFD"/>
          </a:solidFill>
          <a:ln w="12700">
            <a:solidFill>
              <a:srgbClr val="95A5A6"/>
            </a:solidFill>
            <a:prstDash val="solid"/>
          </a:ln>
        </p:spPr>
      </p:sp>
      <p:sp>
        <p:nvSpPr>
          <p:cNvPr id="26" name="Shape 24"/>
          <p:cNvSpPr/>
          <p:nvPr/>
        </p:nvSpPr>
        <p:spPr>
          <a:xfrm>
            <a:off x="6126480" y="2907792"/>
            <a:ext cx="2788920" cy="438912"/>
          </a:xfrm>
          <a:prstGeom prst="rect">
            <a:avLst/>
          </a:prstGeom>
          <a:solidFill>
            <a:srgbClr val="95A5A6"/>
          </a:solidFill>
          <a:ln w="12700">
            <a:solidFill>
              <a:srgbClr val="95A5A6"/>
            </a:solidFill>
            <a:prstDash val="solid"/>
          </a:ln>
        </p:spPr>
      </p:sp>
      <p:sp>
        <p:nvSpPr>
          <p:cNvPr id="27" name="Text 25"/>
          <p:cNvSpPr/>
          <p:nvPr/>
        </p:nvSpPr>
        <p:spPr>
          <a:xfrm>
            <a:off x="6217920" y="2907792"/>
            <a:ext cx="2606040" cy="438912"/>
          </a:xfrm>
          <a:prstGeom prst="rect">
            <a:avLst/>
          </a:prstGeom>
          <a:noFill/>
          <a:ln/>
        </p:spPr>
        <p:txBody>
          <a:bodyPr wrap="square" lIns="0" tIns="0" rIns="0" bIns="0" rtlCol="0" anchor="ctr"/>
          <a:lstStyle/>
          <a:p>
            <a:pPr marL="0" indent="0">
              <a:buNone/>
            </a:pPr>
            <a:r>
              <a:rPr lang="en-US" sz="1200" b="1" dirty="0">
                <a:solidFill>
                  <a:srgbClr val="FFFFFF"/>
                </a:solidFill>
              </a:rPr>
              <a:t>M6 — Greedy/DP</a:t>
            </a:r>
            <a:endParaRPr lang="en-US" sz="1200" dirty="0"/>
          </a:p>
        </p:txBody>
      </p:sp>
      <p:sp>
        <p:nvSpPr>
          <p:cNvPr id="28" name="Text 26"/>
          <p:cNvSpPr/>
          <p:nvPr/>
        </p:nvSpPr>
        <p:spPr>
          <a:xfrm>
            <a:off x="6236208" y="3410712"/>
            <a:ext cx="2578608" cy="960120"/>
          </a:xfrm>
          <a:prstGeom prst="rect">
            <a:avLst/>
          </a:prstGeom>
          <a:noFill/>
          <a:ln/>
        </p:spPr>
        <p:txBody>
          <a:bodyPr wrap="square" lIns="0" tIns="0" rIns="0" bIns="0" rtlCol="0" anchor="ctr"/>
          <a:lstStyle/>
          <a:p>
            <a:pPr marL="0" indent="0">
              <a:buNone/>
            </a:pPr>
            <a:r>
              <a:rPr lang="en-US" sz="1000" dirty="0">
                <a:solidFill>
                  <a:srgbClr val="3D4A5C"/>
                </a:solidFill>
              </a:rPr>
              <a:t>Coming Soon — Activity Selection · Knapsack · LIS</a:t>
            </a:r>
            <a:endParaRPr lang="en-US" sz="1000" dirty="0"/>
          </a:p>
        </p:txBody>
      </p:sp>
      <p:sp>
        <p:nvSpPr>
          <p:cNvPr id="29" name="Text 27"/>
          <p:cNvSpPr/>
          <p:nvPr/>
        </p:nvSpPr>
        <p:spPr>
          <a:xfrm>
            <a:off x="8503920" y="3108960"/>
            <a:ext cx="457200" cy="182880"/>
          </a:xfrm>
          <a:prstGeom prst="rect">
            <a:avLst/>
          </a:prstGeom>
          <a:noFill/>
          <a:ln/>
        </p:spPr>
        <p:txBody>
          <a:bodyPr wrap="square" lIns="0" tIns="0" rIns="0" bIns="0" rtlCol="0" anchor="ctr"/>
          <a:lstStyle/>
          <a:p>
            <a:pPr marL="0" indent="0">
              <a:buNone/>
            </a:pPr>
            <a:r>
              <a:rPr lang="en-US" sz="800" dirty="0">
                <a:solidFill>
                  <a:srgbClr val="6B7E9A"/>
                </a:solidFill>
              </a:rPr>
              <a:t>Slide 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16E5EF4-5630-6EE8-4B22-D25E635E045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21A9D63-A3A1-8A3A-60D2-19CC61578094}"/>
              </a:ext>
            </a:extLst>
          </p:cNvPr>
          <p:cNvSpPr/>
          <p:nvPr/>
        </p:nvSpPr>
        <p:spPr>
          <a:xfrm>
            <a:off x="0" y="0"/>
            <a:ext cx="9144000" cy="658368"/>
          </a:xfrm>
          <a:prstGeom prst="rect">
            <a:avLst/>
          </a:prstGeom>
          <a:solidFill>
            <a:srgbClr val="065A82"/>
          </a:solidFill>
          <a:ln w="12700">
            <a:solidFill>
              <a:srgbClr val="065A82"/>
            </a:solidFill>
            <a:prstDash val="solid"/>
          </a:ln>
        </p:spPr>
      </p:sp>
      <p:sp>
        <p:nvSpPr>
          <p:cNvPr id="3" name="Text 1">
            <a:extLst>
              <a:ext uri="{FF2B5EF4-FFF2-40B4-BE49-F238E27FC236}">
                <a16:creationId xmlns:a16="http://schemas.microsoft.com/office/drawing/2014/main" id="{DA0FEF9B-D258-C4A5-16F3-98894DB0F466}"/>
              </a:ext>
            </a:extLst>
          </p:cNvPr>
          <p:cNvSpPr/>
          <p:nvPr/>
        </p:nvSpPr>
        <p:spPr>
          <a:xfrm>
            <a:off x="365760" y="91440"/>
            <a:ext cx="8412480" cy="457200"/>
          </a:xfrm>
          <a:prstGeom prst="rect">
            <a:avLst/>
          </a:prstGeom>
          <a:noFill/>
          <a:ln/>
        </p:spPr>
        <p:txBody>
          <a:bodyPr wrap="square" lIns="0" tIns="0" rIns="0" bIns="0" rtlCol="0" anchor="ctr"/>
          <a:lstStyle/>
          <a:p>
            <a:pPr marL="0" indent="0">
              <a:buNone/>
            </a:pPr>
            <a:r>
              <a:rPr lang="en-US" sz="1800" dirty="0"/>
              <a:t>Modules</a:t>
            </a:r>
          </a:p>
        </p:txBody>
      </p:sp>
      <p:sp>
        <p:nvSpPr>
          <p:cNvPr id="33" name="TextBox 32">
            <a:extLst>
              <a:ext uri="{FF2B5EF4-FFF2-40B4-BE49-F238E27FC236}">
                <a16:creationId xmlns:a16="http://schemas.microsoft.com/office/drawing/2014/main" id="{57BD2825-5BC8-672C-1797-7753D49C1D40}"/>
              </a:ext>
            </a:extLst>
          </p:cNvPr>
          <p:cNvSpPr txBox="1"/>
          <p:nvPr/>
        </p:nvSpPr>
        <p:spPr>
          <a:xfrm>
            <a:off x="2282372" y="2384362"/>
            <a:ext cx="4579256" cy="369332"/>
          </a:xfrm>
          <a:prstGeom prst="rect">
            <a:avLst/>
          </a:prstGeom>
          <a:noFill/>
        </p:spPr>
        <p:txBody>
          <a:bodyPr wrap="square">
            <a:spAutoFit/>
          </a:bodyPr>
          <a:lstStyle/>
          <a:p>
            <a:endParaRPr lang="en-IN" dirty="0"/>
          </a:p>
        </p:txBody>
      </p:sp>
      <p:pic>
        <p:nvPicPr>
          <p:cNvPr id="35" name="Picture 34">
            <a:extLst>
              <a:ext uri="{FF2B5EF4-FFF2-40B4-BE49-F238E27FC236}">
                <a16:creationId xmlns:a16="http://schemas.microsoft.com/office/drawing/2014/main" id="{30085CDC-4BE8-EDC1-DFF6-7EEB1F6ABCA6}"/>
              </a:ext>
            </a:extLst>
          </p:cNvPr>
          <p:cNvPicPr>
            <a:picLocks noChangeAspect="1"/>
          </p:cNvPicPr>
          <p:nvPr/>
        </p:nvPicPr>
        <p:blipFill>
          <a:blip r:embed="rId3"/>
          <a:stretch>
            <a:fillRect/>
          </a:stretch>
        </p:blipFill>
        <p:spPr>
          <a:xfrm>
            <a:off x="5109" y="0"/>
            <a:ext cx="9133781" cy="5143500"/>
          </a:xfrm>
          <a:prstGeom prst="rect">
            <a:avLst/>
          </a:prstGeom>
        </p:spPr>
      </p:pic>
    </p:spTree>
    <p:extLst>
      <p:ext uri="{BB962C8B-B14F-4D97-AF65-F5344CB8AC3E}">
        <p14:creationId xmlns:p14="http://schemas.microsoft.com/office/powerpoint/2010/main" val="586366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2">
            <a:extLst>
              <a:ext uri="{FF2B5EF4-FFF2-40B4-BE49-F238E27FC236}">
                <a16:creationId xmlns:a16="http://schemas.microsoft.com/office/drawing/2014/main" id="{3A678D98-783A-081D-2036-05FAFCF25D7E}"/>
              </a:ext>
            </a:extLst>
          </p:cNvPr>
          <p:cNvSpPr/>
          <p:nvPr/>
        </p:nvSpPr>
        <p:spPr>
          <a:xfrm>
            <a:off x="4572000" y="0"/>
            <a:ext cx="4572000" cy="5143500"/>
          </a:xfrm>
          <a:prstGeom prst="rect">
            <a:avLst/>
          </a:prstGeom>
          <a:solidFill>
            <a:srgbClr val="EAF4FB"/>
          </a:solidFill>
          <a:ln w="12700">
            <a:solidFill>
              <a:srgbClr val="02C39A"/>
            </a:solidFill>
            <a:prstDash val="solid"/>
          </a:ln>
        </p:spPr>
      </p:sp>
      <p:sp>
        <p:nvSpPr>
          <p:cNvPr id="3" name="Shape 6">
            <a:extLst>
              <a:ext uri="{FF2B5EF4-FFF2-40B4-BE49-F238E27FC236}">
                <a16:creationId xmlns:a16="http://schemas.microsoft.com/office/drawing/2014/main" id="{FAD89508-5828-C40A-599E-5CC32D5682D8}"/>
              </a:ext>
            </a:extLst>
          </p:cNvPr>
          <p:cNvSpPr/>
          <p:nvPr/>
        </p:nvSpPr>
        <p:spPr>
          <a:xfrm>
            <a:off x="0" y="-46652"/>
            <a:ext cx="4571999" cy="5190152"/>
          </a:xfrm>
          <a:prstGeom prst="rect">
            <a:avLst/>
          </a:prstGeom>
          <a:solidFill>
            <a:srgbClr val="FFF8E1"/>
          </a:solidFill>
          <a:ln w="12700">
            <a:solidFill>
              <a:srgbClr val="F7B731"/>
            </a:solidFill>
            <a:prstDash val="solid"/>
          </a:ln>
        </p:spPr>
        <p:txBody>
          <a:bodyPr/>
          <a:lstStyle/>
          <a:p>
            <a:endParaRPr lang="en-IN" dirty="0"/>
          </a:p>
        </p:txBody>
      </p:sp>
      <p:sp>
        <p:nvSpPr>
          <p:cNvPr id="2" name="Title 1">
            <a:extLst>
              <a:ext uri="{FF2B5EF4-FFF2-40B4-BE49-F238E27FC236}">
                <a16:creationId xmlns:a16="http://schemas.microsoft.com/office/drawing/2014/main" id="{C02DA4EC-D054-1A2B-B256-56428C6F3B6F}"/>
              </a:ext>
            </a:extLst>
          </p:cNvPr>
          <p:cNvSpPr>
            <a:spLocks noGrp="1"/>
          </p:cNvSpPr>
          <p:nvPr>
            <p:ph type="title"/>
          </p:nvPr>
        </p:nvSpPr>
        <p:spPr>
          <a:xfrm>
            <a:off x="0" y="-15240"/>
            <a:ext cx="4572000" cy="1471205"/>
          </a:xfrm>
        </p:spPr>
        <p:txBody>
          <a:bodyPr>
            <a:normAutofit/>
          </a:bodyPr>
          <a:lstStyle/>
          <a:p>
            <a:r>
              <a:rPr lang="en-US" sz="3000" b="1" dirty="0"/>
              <a:t>Technologies &amp; Tools Used</a:t>
            </a:r>
          </a:p>
        </p:txBody>
      </p:sp>
      <p:graphicFrame>
        <p:nvGraphicFramePr>
          <p:cNvPr id="5" name="Content Placeholder 4">
            <a:extLst>
              <a:ext uri="{FF2B5EF4-FFF2-40B4-BE49-F238E27FC236}">
                <a16:creationId xmlns:a16="http://schemas.microsoft.com/office/drawing/2014/main" id="{EF44269F-5EEC-7D10-A7AD-08D999FD599B}"/>
              </a:ext>
            </a:extLst>
          </p:cNvPr>
          <p:cNvGraphicFramePr>
            <a:graphicFrameLocks noGrp="1"/>
          </p:cNvGraphicFramePr>
          <p:nvPr>
            <p:ph idx="1"/>
          </p:nvPr>
        </p:nvGraphicFramePr>
        <p:xfrm>
          <a:off x="4638061" y="1025645"/>
          <a:ext cx="5021660" cy="2814419"/>
        </p:xfrm>
        <a:graphic>
          <a:graphicData uri="http://schemas.openxmlformats.org/drawingml/2006/table">
            <a:tbl>
              <a:tblPr/>
              <a:tblGrid>
                <a:gridCol w="2510830">
                  <a:extLst>
                    <a:ext uri="{9D8B030D-6E8A-4147-A177-3AD203B41FA5}">
                      <a16:colId xmlns:a16="http://schemas.microsoft.com/office/drawing/2014/main" val="78253475"/>
                    </a:ext>
                  </a:extLst>
                </a:gridCol>
                <a:gridCol w="2510830">
                  <a:extLst>
                    <a:ext uri="{9D8B030D-6E8A-4147-A177-3AD203B41FA5}">
                      <a16:colId xmlns:a16="http://schemas.microsoft.com/office/drawing/2014/main" val="2114138068"/>
                    </a:ext>
                  </a:extLst>
                </a:gridCol>
              </a:tblGrid>
              <a:tr h="445105">
                <a:tc>
                  <a:txBody>
                    <a:bodyPr/>
                    <a:lstStyle/>
                    <a:p>
                      <a:pPr>
                        <a:buNone/>
                      </a:pPr>
                      <a:r>
                        <a:rPr lang="en-US" sz="1800" b="1" dirty="0"/>
                        <a:t>Tool / Technology</a:t>
                      </a:r>
                    </a:p>
                  </a:txBody>
                  <a:tcPr marL="40253" marR="40253" marT="20127" marB="20127" anchor="ctr">
                    <a:lnL>
                      <a:noFill/>
                    </a:lnL>
                    <a:lnR>
                      <a:noFill/>
                    </a:lnR>
                    <a:lnT>
                      <a:noFill/>
                    </a:lnT>
                    <a:lnB>
                      <a:noFill/>
                    </a:lnB>
                    <a:noFill/>
                  </a:tcPr>
                </a:tc>
                <a:tc>
                  <a:txBody>
                    <a:bodyPr/>
                    <a:lstStyle/>
                    <a:p>
                      <a:pPr>
                        <a:buNone/>
                      </a:pPr>
                      <a:r>
                        <a:rPr lang="en-US" sz="1800" b="1" dirty="0"/>
                        <a:t>Purpose</a:t>
                      </a:r>
                    </a:p>
                  </a:txBody>
                  <a:tcPr marL="40253" marR="40253" marT="20127" marB="20127" anchor="ctr">
                    <a:lnL>
                      <a:noFill/>
                    </a:lnL>
                    <a:lnR>
                      <a:noFill/>
                    </a:lnR>
                    <a:lnT>
                      <a:noFill/>
                    </a:lnT>
                    <a:lnB>
                      <a:noFill/>
                    </a:lnB>
                    <a:noFill/>
                  </a:tcPr>
                </a:tc>
                <a:extLst>
                  <a:ext uri="{0D108BD9-81ED-4DB2-BD59-A6C34878D82A}">
                    <a16:rowId xmlns:a16="http://schemas.microsoft.com/office/drawing/2014/main" val="3076685491"/>
                  </a:ext>
                </a:extLst>
              </a:tr>
              <a:tr h="445105">
                <a:tc>
                  <a:txBody>
                    <a:bodyPr/>
                    <a:lstStyle/>
                    <a:p>
                      <a:pPr>
                        <a:buNone/>
                      </a:pPr>
                      <a:r>
                        <a:rPr lang="en-US" sz="1800" dirty="0"/>
                        <a:t>Java</a:t>
                      </a:r>
                    </a:p>
                  </a:txBody>
                  <a:tcPr marL="40253" marR="40253" marT="20127" marB="20127" anchor="ctr">
                    <a:lnL>
                      <a:noFill/>
                    </a:lnL>
                    <a:lnR>
                      <a:noFill/>
                    </a:lnR>
                    <a:lnT>
                      <a:noFill/>
                    </a:lnT>
                    <a:lnB>
                      <a:noFill/>
                    </a:lnB>
                    <a:noFill/>
                  </a:tcPr>
                </a:tc>
                <a:tc>
                  <a:txBody>
                    <a:bodyPr/>
                    <a:lstStyle/>
                    <a:p>
                      <a:pPr>
                        <a:buNone/>
                      </a:pPr>
                      <a:r>
                        <a:rPr lang="en-US" sz="1800" dirty="0"/>
                        <a:t>Core Programming</a:t>
                      </a:r>
                    </a:p>
                  </a:txBody>
                  <a:tcPr marL="40253" marR="40253" marT="20127" marB="20127" anchor="ctr">
                    <a:lnL>
                      <a:noFill/>
                    </a:lnL>
                    <a:lnR>
                      <a:noFill/>
                    </a:lnR>
                    <a:lnT>
                      <a:noFill/>
                    </a:lnT>
                    <a:lnB>
                      <a:noFill/>
                    </a:lnB>
                    <a:noFill/>
                  </a:tcPr>
                </a:tc>
                <a:extLst>
                  <a:ext uri="{0D108BD9-81ED-4DB2-BD59-A6C34878D82A}">
                    <a16:rowId xmlns:a16="http://schemas.microsoft.com/office/drawing/2014/main" val="4148599525"/>
                  </a:ext>
                </a:extLst>
              </a:tr>
              <a:tr h="588894">
                <a:tc>
                  <a:txBody>
                    <a:bodyPr/>
                    <a:lstStyle/>
                    <a:p>
                      <a:pPr>
                        <a:buNone/>
                      </a:pPr>
                      <a:r>
                        <a:rPr lang="en-US" sz="1800" dirty="0"/>
                        <a:t>VS Code</a:t>
                      </a:r>
                    </a:p>
                  </a:txBody>
                  <a:tcPr marL="40253" marR="40253" marT="20127" marB="20127" anchor="ctr">
                    <a:lnL>
                      <a:noFill/>
                    </a:lnL>
                    <a:lnR>
                      <a:noFill/>
                    </a:lnR>
                    <a:lnT>
                      <a:noFill/>
                    </a:lnT>
                    <a:lnB>
                      <a:noFill/>
                    </a:lnB>
                    <a:noFill/>
                  </a:tcPr>
                </a:tc>
                <a:tc>
                  <a:txBody>
                    <a:bodyPr/>
                    <a:lstStyle/>
                    <a:p>
                      <a:pPr>
                        <a:buNone/>
                      </a:pPr>
                      <a:r>
                        <a:rPr lang="en-US" sz="1800"/>
                        <a:t>Development Environment</a:t>
                      </a:r>
                    </a:p>
                  </a:txBody>
                  <a:tcPr marL="40253" marR="40253" marT="20127" marB="20127" anchor="ctr">
                    <a:lnL>
                      <a:noFill/>
                    </a:lnL>
                    <a:lnR>
                      <a:noFill/>
                    </a:lnR>
                    <a:lnT>
                      <a:noFill/>
                    </a:lnT>
                    <a:lnB>
                      <a:noFill/>
                    </a:lnB>
                    <a:noFill/>
                  </a:tcPr>
                </a:tc>
                <a:extLst>
                  <a:ext uri="{0D108BD9-81ED-4DB2-BD59-A6C34878D82A}">
                    <a16:rowId xmlns:a16="http://schemas.microsoft.com/office/drawing/2014/main" val="1239342868"/>
                  </a:ext>
                </a:extLst>
              </a:tr>
              <a:tr h="445105">
                <a:tc>
                  <a:txBody>
                    <a:bodyPr/>
                    <a:lstStyle/>
                    <a:p>
                      <a:pPr>
                        <a:buNone/>
                      </a:pPr>
                      <a:r>
                        <a:rPr lang="en-US" sz="1800" dirty="0"/>
                        <a:t>Java Collections</a:t>
                      </a:r>
                    </a:p>
                  </a:txBody>
                  <a:tcPr marL="40253" marR="40253" marT="20127" marB="20127" anchor="ctr">
                    <a:lnL>
                      <a:noFill/>
                    </a:lnL>
                    <a:lnR>
                      <a:noFill/>
                    </a:lnR>
                    <a:lnT>
                      <a:noFill/>
                    </a:lnT>
                    <a:lnB>
                      <a:noFill/>
                    </a:lnB>
                    <a:noFill/>
                  </a:tcPr>
                </a:tc>
                <a:tc>
                  <a:txBody>
                    <a:bodyPr/>
                    <a:lstStyle/>
                    <a:p>
                      <a:pPr>
                        <a:buNone/>
                      </a:pPr>
                      <a:r>
                        <a:rPr lang="en-US" sz="1800"/>
                        <a:t>Data Handling</a:t>
                      </a:r>
                    </a:p>
                  </a:txBody>
                  <a:tcPr marL="40253" marR="40253" marT="20127" marB="20127" anchor="ctr">
                    <a:lnL>
                      <a:noFill/>
                    </a:lnL>
                    <a:lnR>
                      <a:noFill/>
                    </a:lnR>
                    <a:lnT>
                      <a:noFill/>
                    </a:lnT>
                    <a:lnB>
                      <a:noFill/>
                    </a:lnB>
                    <a:noFill/>
                  </a:tcPr>
                </a:tc>
                <a:extLst>
                  <a:ext uri="{0D108BD9-81ED-4DB2-BD59-A6C34878D82A}">
                    <a16:rowId xmlns:a16="http://schemas.microsoft.com/office/drawing/2014/main" val="2506820718"/>
                  </a:ext>
                </a:extLst>
              </a:tr>
              <a:tr h="445105">
                <a:tc>
                  <a:txBody>
                    <a:bodyPr/>
                    <a:lstStyle/>
                    <a:p>
                      <a:pPr>
                        <a:buNone/>
                      </a:pPr>
                      <a:r>
                        <a:rPr lang="en-US" sz="1800" dirty="0"/>
                        <a:t>DSA Algorithms</a:t>
                      </a:r>
                    </a:p>
                  </a:txBody>
                  <a:tcPr marL="40253" marR="40253" marT="20127" marB="20127" anchor="ctr">
                    <a:lnL>
                      <a:noFill/>
                    </a:lnL>
                    <a:lnR>
                      <a:noFill/>
                    </a:lnR>
                    <a:lnT>
                      <a:noFill/>
                    </a:lnT>
                    <a:lnB>
                      <a:noFill/>
                    </a:lnB>
                    <a:noFill/>
                  </a:tcPr>
                </a:tc>
                <a:tc>
                  <a:txBody>
                    <a:bodyPr/>
                    <a:lstStyle/>
                    <a:p>
                      <a:pPr>
                        <a:buNone/>
                      </a:pPr>
                      <a:r>
                        <a:rPr lang="en-US" sz="1800" dirty="0"/>
                        <a:t>Optimization</a:t>
                      </a:r>
                    </a:p>
                  </a:txBody>
                  <a:tcPr marL="40253" marR="40253" marT="20127" marB="20127" anchor="ctr">
                    <a:lnL>
                      <a:noFill/>
                    </a:lnL>
                    <a:lnR>
                      <a:noFill/>
                    </a:lnR>
                    <a:lnT>
                      <a:noFill/>
                    </a:lnT>
                    <a:lnB>
                      <a:noFill/>
                    </a:lnB>
                    <a:noFill/>
                  </a:tcPr>
                </a:tc>
                <a:extLst>
                  <a:ext uri="{0D108BD9-81ED-4DB2-BD59-A6C34878D82A}">
                    <a16:rowId xmlns:a16="http://schemas.microsoft.com/office/drawing/2014/main" val="297181128"/>
                  </a:ext>
                </a:extLst>
              </a:tr>
              <a:tr h="445105">
                <a:tc>
                  <a:txBody>
                    <a:bodyPr/>
                    <a:lstStyle/>
                    <a:p>
                      <a:pPr>
                        <a:buNone/>
                      </a:pPr>
                      <a:r>
                        <a:rPr lang="en-US" sz="1800" dirty="0"/>
                        <a:t>Terminal / CMD</a:t>
                      </a:r>
                    </a:p>
                  </a:txBody>
                  <a:tcPr marL="40253" marR="40253" marT="20127" marB="20127" anchor="ctr">
                    <a:lnL>
                      <a:noFill/>
                    </a:lnL>
                    <a:lnR>
                      <a:noFill/>
                    </a:lnR>
                    <a:lnT>
                      <a:noFill/>
                    </a:lnT>
                    <a:lnB>
                      <a:noFill/>
                    </a:lnB>
                    <a:noFill/>
                  </a:tcPr>
                </a:tc>
                <a:tc>
                  <a:txBody>
                    <a:bodyPr/>
                    <a:lstStyle/>
                    <a:p>
                      <a:pPr>
                        <a:buNone/>
                      </a:pPr>
                      <a:r>
                        <a:rPr lang="en-US" sz="1800" dirty="0"/>
                        <a:t>Program Execution</a:t>
                      </a:r>
                    </a:p>
                  </a:txBody>
                  <a:tcPr marL="40253" marR="40253" marT="20127" marB="20127" anchor="ctr">
                    <a:lnL>
                      <a:noFill/>
                    </a:lnL>
                    <a:lnR>
                      <a:noFill/>
                    </a:lnR>
                    <a:lnT>
                      <a:noFill/>
                    </a:lnT>
                    <a:lnB>
                      <a:noFill/>
                    </a:lnB>
                    <a:noFill/>
                  </a:tcPr>
                </a:tc>
                <a:extLst>
                  <a:ext uri="{0D108BD9-81ED-4DB2-BD59-A6C34878D82A}">
                    <a16:rowId xmlns:a16="http://schemas.microsoft.com/office/drawing/2014/main" val="812684268"/>
                  </a:ext>
                </a:extLst>
              </a:tr>
            </a:tbl>
          </a:graphicData>
        </a:graphic>
      </p:graphicFrame>
      <p:sp>
        <p:nvSpPr>
          <p:cNvPr id="4" name="Text Placeholder 3">
            <a:extLst>
              <a:ext uri="{FF2B5EF4-FFF2-40B4-BE49-F238E27FC236}">
                <a16:creationId xmlns:a16="http://schemas.microsoft.com/office/drawing/2014/main" id="{3CBD817C-8F5F-3D4B-9CBC-2CC01F487834}"/>
              </a:ext>
            </a:extLst>
          </p:cNvPr>
          <p:cNvSpPr>
            <a:spLocks noGrp="1"/>
          </p:cNvSpPr>
          <p:nvPr>
            <p:ph type="body" sz="half" idx="2"/>
          </p:nvPr>
        </p:nvSpPr>
        <p:spPr>
          <a:xfrm>
            <a:off x="629841" y="1932602"/>
            <a:ext cx="2949178" cy="2858691"/>
          </a:xfrm>
        </p:spPr>
        <p:txBody>
          <a:bodyPr/>
          <a:lstStyle/>
          <a:p>
            <a:r>
              <a:rPr lang="en-US" sz="2100" b="1" dirty="0">
                <a:solidFill>
                  <a:schemeClr val="tx1"/>
                </a:solidFill>
              </a:rPr>
              <a:t>Concepts Used</a:t>
            </a:r>
          </a:p>
          <a:p>
            <a:r>
              <a:rPr lang="en-US" sz="1800" dirty="0">
                <a:solidFill>
                  <a:schemeClr val="tx1"/>
                </a:solidFill>
              </a:rPr>
              <a:t>OOP </a:t>
            </a:r>
          </a:p>
          <a:p>
            <a:r>
              <a:rPr lang="en-US" sz="1800" dirty="0">
                <a:solidFill>
                  <a:schemeClr val="tx1"/>
                </a:solidFill>
              </a:rPr>
              <a:t>Arrays &amp; Collections </a:t>
            </a:r>
          </a:p>
          <a:p>
            <a:r>
              <a:rPr lang="en-US" sz="1800" dirty="0">
                <a:solidFill>
                  <a:schemeClr val="tx1"/>
                </a:solidFill>
              </a:rPr>
              <a:t>Trees </a:t>
            </a:r>
          </a:p>
          <a:p>
            <a:r>
              <a:rPr lang="en-US" sz="1800" dirty="0">
                <a:solidFill>
                  <a:schemeClr val="tx1"/>
                </a:solidFill>
              </a:rPr>
              <a:t>Graphs </a:t>
            </a:r>
          </a:p>
          <a:p>
            <a:r>
              <a:rPr lang="en-US" sz="1800" dirty="0">
                <a:solidFill>
                  <a:schemeClr val="tx1"/>
                </a:solidFill>
              </a:rPr>
              <a:t>Sorting Algorithms</a:t>
            </a:r>
          </a:p>
          <a:p>
            <a:endParaRPr lang="en-US" dirty="0">
              <a:solidFill>
                <a:schemeClr val="tx1"/>
              </a:solidFill>
            </a:endParaRPr>
          </a:p>
        </p:txBody>
      </p:sp>
      <p:sp>
        <p:nvSpPr>
          <p:cNvPr id="6" name="Rectangle 1">
            <a:extLst>
              <a:ext uri="{FF2B5EF4-FFF2-40B4-BE49-F238E27FC236}">
                <a16:creationId xmlns:a16="http://schemas.microsoft.com/office/drawing/2014/main" id="{9E1F4316-EEAB-ED4C-82A0-3D7CDE3C0DDE}"/>
              </a:ext>
            </a:extLst>
          </p:cNvPr>
          <p:cNvSpPr>
            <a:spLocks noChangeArrowheads="1"/>
          </p:cNvSpPr>
          <p:nvPr/>
        </p:nvSpPr>
        <p:spPr bwMode="auto">
          <a:xfrm>
            <a:off x="186406" y="-462150"/>
            <a:ext cx="9919328"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endParaRPr lang="en-US" altLang="en-US" sz="900" b="1" dirty="0">
              <a:latin typeface="Arial" panose="020B0604020202020204" pitchFamily="34" charset="0"/>
            </a:endParaRPr>
          </a:p>
          <a:p>
            <a:pPr defTabSz="685800" eaLnBrk="0" fontAlgn="base" hangingPunct="0">
              <a:spcBef>
                <a:spcPct val="0"/>
              </a:spcBef>
              <a:spcAft>
                <a:spcPct val="0"/>
              </a:spcAft>
            </a:pPr>
            <a:endParaRPr lang="en-US" altLang="en-US" sz="1350" dirty="0">
              <a:latin typeface="Arial" panose="020B0604020202020204" pitchFamily="34" charset="0"/>
            </a:endParaRPr>
          </a:p>
        </p:txBody>
      </p:sp>
    </p:spTree>
    <p:extLst>
      <p:ext uri="{BB962C8B-B14F-4D97-AF65-F5344CB8AC3E}">
        <p14:creationId xmlns:p14="http://schemas.microsoft.com/office/powerpoint/2010/main" val="3154564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A421A-6806-E00D-C3E4-EB0123276F93}"/>
            </a:ext>
          </a:extLst>
        </p:cNvPr>
        <p:cNvGrpSpPr/>
        <p:nvPr/>
      </p:nvGrpSpPr>
      <p:grpSpPr>
        <a:xfrm>
          <a:off x="0" y="0"/>
          <a:ext cx="0" cy="0"/>
          <a:chOff x="0" y="0"/>
          <a:chExt cx="0" cy="0"/>
        </a:xfrm>
      </p:grpSpPr>
      <p:sp>
        <p:nvSpPr>
          <p:cNvPr id="13" name="Shape 2">
            <a:extLst>
              <a:ext uri="{FF2B5EF4-FFF2-40B4-BE49-F238E27FC236}">
                <a16:creationId xmlns:a16="http://schemas.microsoft.com/office/drawing/2014/main" id="{73B4F7E8-5B1D-3C64-F5C3-16C12D59701D}"/>
              </a:ext>
            </a:extLst>
          </p:cNvPr>
          <p:cNvSpPr/>
          <p:nvPr/>
        </p:nvSpPr>
        <p:spPr>
          <a:xfrm>
            <a:off x="4572000" y="0"/>
            <a:ext cx="4572000" cy="5143500"/>
          </a:xfrm>
          <a:prstGeom prst="rect">
            <a:avLst/>
          </a:prstGeom>
          <a:solidFill>
            <a:srgbClr val="EAF4FB"/>
          </a:solidFill>
          <a:ln w="12700">
            <a:solidFill>
              <a:srgbClr val="02C39A"/>
            </a:solidFill>
            <a:prstDash val="solid"/>
          </a:ln>
        </p:spPr>
      </p:sp>
      <p:sp>
        <p:nvSpPr>
          <p:cNvPr id="12" name="Shape 6">
            <a:extLst>
              <a:ext uri="{FF2B5EF4-FFF2-40B4-BE49-F238E27FC236}">
                <a16:creationId xmlns:a16="http://schemas.microsoft.com/office/drawing/2014/main" id="{45ED6055-7C84-1110-6B16-2CA1DE234375}"/>
              </a:ext>
            </a:extLst>
          </p:cNvPr>
          <p:cNvSpPr/>
          <p:nvPr/>
        </p:nvSpPr>
        <p:spPr>
          <a:xfrm>
            <a:off x="0" y="-46652"/>
            <a:ext cx="4571999" cy="5190152"/>
          </a:xfrm>
          <a:prstGeom prst="rect">
            <a:avLst/>
          </a:prstGeom>
          <a:solidFill>
            <a:srgbClr val="FFF8E1"/>
          </a:solidFill>
          <a:ln w="12700">
            <a:solidFill>
              <a:srgbClr val="F7B731"/>
            </a:solidFill>
            <a:prstDash val="solid"/>
          </a:ln>
        </p:spPr>
        <p:txBody>
          <a:bodyPr/>
          <a:lstStyle/>
          <a:p>
            <a:endParaRPr lang="en-IN" dirty="0"/>
          </a:p>
        </p:txBody>
      </p:sp>
      <p:graphicFrame>
        <p:nvGraphicFramePr>
          <p:cNvPr id="9" name="Content Placeholder 8">
            <a:extLst>
              <a:ext uri="{FF2B5EF4-FFF2-40B4-BE49-F238E27FC236}">
                <a16:creationId xmlns:a16="http://schemas.microsoft.com/office/drawing/2014/main" id="{9FA8D56B-7DB8-F7FC-C345-93FE044F186A}"/>
              </a:ext>
            </a:extLst>
          </p:cNvPr>
          <p:cNvGraphicFramePr>
            <a:graphicFrameLocks noGrp="1"/>
          </p:cNvGraphicFramePr>
          <p:nvPr>
            <p:ph idx="1"/>
            <p:extLst>
              <p:ext uri="{D42A27DB-BD31-4B8C-83A1-F6EECF244321}">
                <p14:modId xmlns:p14="http://schemas.microsoft.com/office/powerpoint/2010/main" val="2845230249"/>
              </p:ext>
            </p:extLst>
          </p:nvPr>
        </p:nvGraphicFramePr>
        <p:xfrm>
          <a:off x="196850" y="336884"/>
          <a:ext cx="8610266" cy="4523874"/>
        </p:xfrm>
        <a:graphic>
          <a:graphicData uri="http://schemas.openxmlformats.org/drawingml/2006/table">
            <a:tbl>
              <a:tblPr/>
              <a:tblGrid>
                <a:gridCol w="4404026">
                  <a:extLst>
                    <a:ext uri="{9D8B030D-6E8A-4147-A177-3AD203B41FA5}">
                      <a16:colId xmlns:a16="http://schemas.microsoft.com/office/drawing/2014/main" val="2133217962"/>
                    </a:ext>
                  </a:extLst>
                </a:gridCol>
                <a:gridCol w="4206240">
                  <a:extLst>
                    <a:ext uri="{9D8B030D-6E8A-4147-A177-3AD203B41FA5}">
                      <a16:colId xmlns:a16="http://schemas.microsoft.com/office/drawing/2014/main" val="56797840"/>
                    </a:ext>
                  </a:extLst>
                </a:gridCol>
              </a:tblGrid>
              <a:tr h="685170">
                <a:tc>
                  <a:txBody>
                    <a:bodyPr/>
                    <a:lstStyle/>
                    <a:p>
                      <a:pPr>
                        <a:buNone/>
                      </a:pPr>
                      <a:r>
                        <a:rPr lang="en-IN" sz="1800"/>
                        <a:t>Input</a:t>
                      </a:r>
                    </a:p>
                  </a:txBody>
                  <a:tcPr marL="41892" marR="41892" marT="20946" marB="20946" anchor="ctr">
                    <a:lnL>
                      <a:noFill/>
                    </a:lnL>
                    <a:lnR>
                      <a:noFill/>
                    </a:lnR>
                    <a:lnT>
                      <a:noFill/>
                    </a:lnT>
                    <a:lnB>
                      <a:noFill/>
                    </a:lnB>
                    <a:noFill/>
                  </a:tcPr>
                </a:tc>
                <a:tc>
                  <a:txBody>
                    <a:bodyPr/>
                    <a:lstStyle/>
                    <a:p>
                      <a:pPr>
                        <a:buNone/>
                      </a:pPr>
                      <a:r>
                        <a:rPr lang="en-IN" sz="1800"/>
                        <a:t>Output</a:t>
                      </a:r>
                    </a:p>
                  </a:txBody>
                  <a:tcPr marL="41892" marR="41892" marT="20946" marB="20946" anchor="ctr">
                    <a:lnL>
                      <a:noFill/>
                    </a:lnL>
                    <a:lnR>
                      <a:noFill/>
                    </a:lnR>
                    <a:lnT>
                      <a:noFill/>
                    </a:lnT>
                    <a:lnB>
                      <a:noFill/>
                    </a:lnB>
                    <a:noFill/>
                  </a:tcPr>
                </a:tc>
                <a:extLst>
                  <a:ext uri="{0D108BD9-81ED-4DB2-BD59-A6C34878D82A}">
                    <a16:rowId xmlns:a16="http://schemas.microsoft.com/office/drawing/2014/main" val="197949900"/>
                  </a:ext>
                </a:extLst>
              </a:tr>
              <a:tr h="1873966">
                <a:tc>
                  <a:txBody>
                    <a:bodyPr/>
                    <a:lstStyle/>
                    <a:p>
                      <a:pPr>
                        <a:buNone/>
                      </a:pPr>
                      <a:r>
                        <a:rPr lang="en-IN" sz="1800" dirty="0"/>
                        <a:t>Module: </a:t>
                      </a:r>
                      <a:r>
                        <a:rPr lang="en-IN" sz="1800" dirty="0">
                          <a:latin typeface="Courier New" panose="02070309020205020404" pitchFamily="49" charset="0"/>
                        </a:rPr>
                        <a:t>1</a:t>
                      </a:r>
                      <a:r>
                        <a:rPr lang="en-IN" sz="1800" dirty="0"/>
                        <a:t> → AVL Trees → </a:t>
                      </a:r>
                      <a:r>
                        <a:rPr lang="en-IN" sz="1800" dirty="0">
                          <a:latin typeface="Courier New" panose="02070309020205020404" pitchFamily="49" charset="0"/>
                        </a:rPr>
                        <a:t>2</a:t>
                      </a:r>
                      <a:r>
                        <a:rPr lang="en-IN" sz="1800" dirty="0"/>
                        <a:t> (Insert) → Pet ID: </a:t>
                      </a:r>
                      <a:r>
                        <a:rPr lang="en-IN" sz="1800" dirty="0">
                          <a:latin typeface="Courier New" panose="02070309020205020404" pitchFamily="49" charset="0"/>
                        </a:rPr>
                        <a:t>101</a:t>
                      </a:r>
                      <a:endParaRPr lang="en-IN" sz="1800" dirty="0"/>
                    </a:p>
                  </a:txBody>
                  <a:tcPr marL="41892" marR="41892" marT="20946" marB="20946" anchor="ctr">
                    <a:lnL>
                      <a:noFill/>
                    </a:lnL>
                    <a:lnR>
                      <a:noFill/>
                    </a:lnR>
                    <a:lnT>
                      <a:noFill/>
                    </a:lnT>
                    <a:lnB>
                      <a:noFill/>
                    </a:lnB>
                    <a:noFill/>
                  </a:tcPr>
                </a:tc>
                <a:tc>
                  <a:txBody>
                    <a:bodyPr/>
                    <a:lstStyle/>
                    <a:p>
                      <a:pPr>
                        <a:buNone/>
                      </a:pPr>
                      <a:r>
                        <a:rPr lang="en-US" sz="1800" dirty="0">
                          <a:latin typeface="Courier New" panose="02070309020205020404" pitchFamily="49" charset="0"/>
                        </a:rPr>
                        <a:t>AVL Insert: Pet ID 101 (Buddy - Dog)</a:t>
                      </a:r>
                      <a:r>
                        <a:rPr lang="en-US" sz="1800" dirty="0"/>
                        <a:t> </a:t>
                      </a:r>
                      <a:r>
                        <a:rPr lang="en-US" sz="1800" dirty="0">
                          <a:latin typeface="Courier New" panose="02070309020205020404" pitchFamily="49" charset="0"/>
                        </a:rPr>
                        <a:t>Height after insert: 1</a:t>
                      </a:r>
                      <a:r>
                        <a:rPr lang="en-US" sz="1800" dirty="0"/>
                        <a:t> </a:t>
                      </a:r>
                      <a:r>
                        <a:rPr lang="en-US" sz="1800" dirty="0">
                          <a:latin typeface="Courier New" panose="02070309020205020404" pitchFamily="49" charset="0"/>
                        </a:rPr>
                        <a:t>Balance Factor: 0 ✓ Balanced</a:t>
                      </a:r>
                      <a:endParaRPr lang="en-US" sz="1800" dirty="0"/>
                    </a:p>
                  </a:txBody>
                  <a:tcPr marL="41892" marR="41892" marT="20946" marB="20946" anchor="ctr">
                    <a:lnL>
                      <a:noFill/>
                    </a:lnL>
                    <a:lnR>
                      <a:noFill/>
                    </a:lnR>
                    <a:lnT>
                      <a:noFill/>
                    </a:lnT>
                    <a:lnB>
                      <a:noFill/>
                    </a:lnB>
                    <a:noFill/>
                  </a:tcPr>
                </a:tc>
                <a:extLst>
                  <a:ext uri="{0D108BD9-81ED-4DB2-BD59-A6C34878D82A}">
                    <a16:rowId xmlns:a16="http://schemas.microsoft.com/office/drawing/2014/main" val="3177158089"/>
                  </a:ext>
                </a:extLst>
              </a:tr>
              <a:tr h="685170">
                <a:tc>
                  <a:txBody>
                    <a:bodyPr/>
                    <a:lstStyle/>
                    <a:p>
                      <a:pPr>
                        <a:buNone/>
                      </a:pPr>
                      <a:r>
                        <a:rPr lang="en-US" sz="1800">
                          <a:latin typeface="Courier New" panose="02070309020205020404" pitchFamily="49" charset="0"/>
                        </a:rPr>
                        <a:t>3</a:t>
                      </a:r>
                      <a:r>
                        <a:rPr lang="en-US" sz="1800"/>
                        <a:t> (Search) → Pet ID: </a:t>
                      </a:r>
                      <a:r>
                        <a:rPr lang="en-US" sz="1800">
                          <a:latin typeface="Courier New" panose="02070309020205020404" pitchFamily="49" charset="0"/>
                        </a:rPr>
                        <a:t>101</a:t>
                      </a:r>
                      <a:endParaRPr lang="en-US" sz="1800"/>
                    </a:p>
                  </a:txBody>
                  <a:tcPr marL="41892" marR="41892" marT="20946" marB="20946" anchor="ctr">
                    <a:lnL>
                      <a:noFill/>
                    </a:lnL>
                    <a:lnR>
                      <a:noFill/>
                    </a:lnR>
                    <a:lnT>
                      <a:noFill/>
                    </a:lnT>
                    <a:lnB>
                      <a:noFill/>
                    </a:lnB>
                    <a:noFill/>
                  </a:tcPr>
                </a:tc>
                <a:tc>
                  <a:txBody>
                    <a:bodyPr/>
                    <a:lstStyle/>
                    <a:p>
                      <a:pPr>
                        <a:buNone/>
                      </a:pPr>
                      <a:r>
                        <a:rPr lang="en-IN" sz="1800"/>
                        <a:t>`Found: ID=101</a:t>
                      </a:r>
                    </a:p>
                  </a:txBody>
                  <a:tcPr marL="41892" marR="41892" marT="20946" marB="20946" anchor="ctr">
                    <a:lnL>
                      <a:noFill/>
                    </a:lnL>
                    <a:lnR>
                      <a:noFill/>
                    </a:lnR>
                    <a:lnT>
                      <a:noFill/>
                    </a:lnT>
                    <a:lnB>
                      <a:noFill/>
                    </a:lnB>
                    <a:noFill/>
                  </a:tcPr>
                </a:tc>
                <a:extLst>
                  <a:ext uri="{0D108BD9-81ED-4DB2-BD59-A6C34878D82A}">
                    <a16:rowId xmlns:a16="http://schemas.microsoft.com/office/drawing/2014/main" val="1268549123"/>
                  </a:ext>
                </a:extLst>
              </a:tr>
              <a:tr h="1279568">
                <a:tc>
                  <a:txBody>
                    <a:bodyPr/>
                    <a:lstStyle/>
                    <a:p>
                      <a:pPr>
                        <a:buNone/>
                      </a:pPr>
                      <a:r>
                        <a:rPr lang="en-US" sz="1800">
                          <a:latin typeface="Courier New" panose="02070309020205020404" pitchFamily="49" charset="0"/>
                        </a:rPr>
                        <a:t>3</a:t>
                      </a:r>
                      <a:r>
                        <a:rPr lang="en-US" sz="1800"/>
                        <a:t> (Search) → Pet ID: </a:t>
                      </a:r>
                      <a:r>
                        <a:rPr lang="en-US" sz="1800">
                          <a:latin typeface="Courier New" panose="02070309020205020404" pitchFamily="49" charset="0"/>
                        </a:rPr>
                        <a:t>999</a:t>
                      </a:r>
                      <a:endParaRPr lang="en-US" sz="1800"/>
                    </a:p>
                  </a:txBody>
                  <a:tcPr marL="41892" marR="41892" marT="20946" marB="20946" anchor="ctr">
                    <a:lnL>
                      <a:noFill/>
                    </a:lnL>
                    <a:lnR>
                      <a:noFill/>
                    </a:lnR>
                    <a:lnT>
                      <a:noFill/>
                    </a:lnT>
                    <a:lnB>
                      <a:noFill/>
                    </a:lnB>
                    <a:noFill/>
                  </a:tcPr>
                </a:tc>
                <a:tc>
                  <a:txBody>
                    <a:bodyPr/>
                    <a:lstStyle/>
                    <a:p>
                      <a:pPr>
                        <a:buNone/>
                      </a:pPr>
                      <a:r>
                        <a:rPr lang="en-US" sz="1800" dirty="0">
                          <a:latin typeface="Courier New" panose="02070309020205020404" pitchFamily="49" charset="0"/>
                        </a:rPr>
                        <a:t>[!] Pet ID 999 not found in AVL Tree.</a:t>
                      </a:r>
                      <a:endParaRPr lang="en-US" sz="1800" dirty="0"/>
                    </a:p>
                  </a:txBody>
                  <a:tcPr marL="41892" marR="41892" marT="20946" marB="20946" anchor="ctr">
                    <a:lnL>
                      <a:noFill/>
                    </a:lnL>
                    <a:lnR>
                      <a:noFill/>
                    </a:lnR>
                    <a:lnT>
                      <a:noFill/>
                    </a:lnT>
                    <a:lnB>
                      <a:noFill/>
                    </a:lnB>
                    <a:noFill/>
                  </a:tcPr>
                </a:tc>
                <a:extLst>
                  <a:ext uri="{0D108BD9-81ED-4DB2-BD59-A6C34878D82A}">
                    <a16:rowId xmlns:a16="http://schemas.microsoft.com/office/drawing/2014/main" val="953943309"/>
                  </a:ext>
                </a:extLst>
              </a:tr>
            </a:tbl>
          </a:graphicData>
        </a:graphic>
      </p:graphicFrame>
    </p:spTree>
    <p:extLst>
      <p:ext uri="{BB962C8B-B14F-4D97-AF65-F5344CB8AC3E}">
        <p14:creationId xmlns:p14="http://schemas.microsoft.com/office/powerpoint/2010/main" val="2964807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31E09-5511-632A-FC6D-B7E1A4190EC5}"/>
            </a:ext>
          </a:extLst>
        </p:cNvPr>
        <p:cNvGrpSpPr/>
        <p:nvPr/>
      </p:nvGrpSpPr>
      <p:grpSpPr>
        <a:xfrm>
          <a:off x="0" y="0"/>
          <a:ext cx="0" cy="0"/>
          <a:chOff x="0" y="0"/>
          <a:chExt cx="0" cy="0"/>
        </a:xfrm>
      </p:grpSpPr>
      <p:sp>
        <p:nvSpPr>
          <p:cNvPr id="3" name="Shape 2">
            <a:extLst>
              <a:ext uri="{FF2B5EF4-FFF2-40B4-BE49-F238E27FC236}">
                <a16:creationId xmlns:a16="http://schemas.microsoft.com/office/drawing/2014/main" id="{6A52BB4F-C153-D62B-AE2A-2E7EAEFADA6E}"/>
              </a:ext>
            </a:extLst>
          </p:cNvPr>
          <p:cNvSpPr/>
          <p:nvPr/>
        </p:nvSpPr>
        <p:spPr>
          <a:xfrm>
            <a:off x="4572000" y="0"/>
            <a:ext cx="4572000" cy="5143500"/>
          </a:xfrm>
          <a:prstGeom prst="rect">
            <a:avLst/>
          </a:prstGeom>
          <a:solidFill>
            <a:srgbClr val="EAF4FB"/>
          </a:solidFill>
          <a:ln w="12700">
            <a:solidFill>
              <a:srgbClr val="02C39A"/>
            </a:solidFill>
            <a:prstDash val="solid"/>
          </a:ln>
        </p:spPr>
      </p:sp>
      <p:sp>
        <p:nvSpPr>
          <p:cNvPr id="2" name="Shape 6">
            <a:extLst>
              <a:ext uri="{FF2B5EF4-FFF2-40B4-BE49-F238E27FC236}">
                <a16:creationId xmlns:a16="http://schemas.microsoft.com/office/drawing/2014/main" id="{2F6DD586-38EE-443C-F995-B37D8B65E4B8}"/>
              </a:ext>
            </a:extLst>
          </p:cNvPr>
          <p:cNvSpPr/>
          <p:nvPr/>
        </p:nvSpPr>
        <p:spPr>
          <a:xfrm>
            <a:off x="0" y="-46652"/>
            <a:ext cx="4571999" cy="5190152"/>
          </a:xfrm>
          <a:prstGeom prst="rect">
            <a:avLst/>
          </a:prstGeom>
          <a:solidFill>
            <a:srgbClr val="FFF8E1"/>
          </a:solidFill>
          <a:ln w="12700">
            <a:solidFill>
              <a:srgbClr val="F7B731"/>
            </a:solidFill>
            <a:prstDash val="solid"/>
          </a:ln>
        </p:spPr>
        <p:txBody>
          <a:bodyPr/>
          <a:lstStyle/>
          <a:p>
            <a:endParaRPr lang="en-IN" dirty="0"/>
          </a:p>
        </p:txBody>
      </p:sp>
      <p:graphicFrame>
        <p:nvGraphicFramePr>
          <p:cNvPr id="9" name="Content Placeholder 8">
            <a:extLst>
              <a:ext uri="{FF2B5EF4-FFF2-40B4-BE49-F238E27FC236}">
                <a16:creationId xmlns:a16="http://schemas.microsoft.com/office/drawing/2014/main" id="{A1E0F613-DF5D-4784-2F36-82199CD373AE}"/>
              </a:ext>
            </a:extLst>
          </p:cNvPr>
          <p:cNvGraphicFramePr>
            <a:graphicFrameLocks noGrp="1"/>
          </p:cNvGraphicFramePr>
          <p:nvPr>
            <p:ph idx="1"/>
            <p:extLst>
              <p:ext uri="{D42A27DB-BD31-4B8C-83A1-F6EECF244321}">
                <p14:modId xmlns:p14="http://schemas.microsoft.com/office/powerpoint/2010/main" val="1497346329"/>
              </p:ext>
            </p:extLst>
          </p:nvPr>
        </p:nvGraphicFramePr>
        <p:xfrm>
          <a:off x="196850" y="336884"/>
          <a:ext cx="8610266" cy="3375352"/>
        </p:xfrm>
        <a:graphic>
          <a:graphicData uri="http://schemas.openxmlformats.org/drawingml/2006/table">
            <a:tbl>
              <a:tblPr/>
              <a:tblGrid>
                <a:gridCol w="4404026">
                  <a:extLst>
                    <a:ext uri="{9D8B030D-6E8A-4147-A177-3AD203B41FA5}">
                      <a16:colId xmlns:a16="http://schemas.microsoft.com/office/drawing/2014/main" val="2133217962"/>
                    </a:ext>
                  </a:extLst>
                </a:gridCol>
                <a:gridCol w="4206240">
                  <a:extLst>
                    <a:ext uri="{9D8B030D-6E8A-4147-A177-3AD203B41FA5}">
                      <a16:colId xmlns:a16="http://schemas.microsoft.com/office/drawing/2014/main" val="56797840"/>
                    </a:ext>
                  </a:extLst>
                </a:gridCol>
              </a:tblGrid>
              <a:tr h="640769">
                <a:tc>
                  <a:txBody>
                    <a:bodyPr/>
                    <a:lstStyle/>
                    <a:p>
                      <a:pPr>
                        <a:buNone/>
                      </a:pPr>
                      <a:r>
                        <a:rPr lang="en-IN" dirty="0"/>
                        <a:t>Input</a:t>
                      </a:r>
                    </a:p>
                  </a:txBody>
                  <a:tcPr anchor="ctr">
                    <a:lnL>
                      <a:noFill/>
                    </a:lnL>
                    <a:lnR>
                      <a:noFill/>
                    </a:lnR>
                    <a:lnT>
                      <a:noFill/>
                    </a:lnT>
                    <a:lnB>
                      <a:noFill/>
                    </a:lnB>
                    <a:noFill/>
                  </a:tcPr>
                </a:tc>
                <a:tc>
                  <a:txBody>
                    <a:bodyPr/>
                    <a:lstStyle/>
                    <a:p>
                      <a:pPr>
                        <a:buNone/>
                      </a:pPr>
                      <a:r>
                        <a:rPr lang="en-IN"/>
                        <a:t>Output</a:t>
                      </a:r>
                    </a:p>
                  </a:txBody>
                  <a:tcPr anchor="ctr">
                    <a:lnL>
                      <a:noFill/>
                    </a:lnL>
                    <a:lnR>
                      <a:noFill/>
                    </a:lnR>
                    <a:lnT>
                      <a:noFill/>
                    </a:lnT>
                    <a:lnB>
                      <a:noFill/>
                    </a:lnB>
                    <a:noFill/>
                  </a:tcPr>
                </a:tc>
                <a:extLst>
                  <a:ext uri="{0D108BD9-81ED-4DB2-BD59-A6C34878D82A}">
                    <a16:rowId xmlns:a16="http://schemas.microsoft.com/office/drawing/2014/main" val="197949900"/>
                  </a:ext>
                </a:extLst>
              </a:tr>
              <a:tr h="1752528">
                <a:tc>
                  <a:txBody>
                    <a:bodyPr/>
                    <a:lstStyle/>
                    <a:p>
                      <a:pPr>
                        <a:buNone/>
                      </a:pPr>
                      <a:r>
                        <a:rPr lang="en-IN"/>
                        <a:t>Module: </a:t>
                      </a:r>
                      <a:r>
                        <a:rPr lang="en-IN">
                          <a:latin typeface="Courier New" panose="02070309020205020404" pitchFamily="49" charset="0"/>
                        </a:rPr>
                        <a:t>4</a:t>
                      </a:r>
                      <a:r>
                        <a:rPr lang="en-IN"/>
                        <a:t> → Shortest Paths → </a:t>
                      </a:r>
                      <a:r>
                        <a:rPr lang="en-IN">
                          <a:latin typeface="Courier New" panose="02070309020205020404" pitchFamily="49" charset="0"/>
                        </a:rPr>
                        <a:t>1</a:t>
                      </a:r>
                      <a:r>
                        <a:rPr lang="en-IN"/>
                        <a:t> (Dijkstra) → Source: </a:t>
                      </a:r>
                      <a:r>
                        <a:rPr lang="en-IN">
                          <a:latin typeface="Courier New" panose="02070309020205020404" pitchFamily="49" charset="0"/>
                        </a:rPr>
                        <a:t>1</a:t>
                      </a:r>
                      <a:endParaRPr lang="en-IN"/>
                    </a:p>
                  </a:txBody>
                  <a:tcPr anchor="ctr">
                    <a:lnL>
                      <a:noFill/>
                    </a:lnL>
                    <a:lnR>
                      <a:noFill/>
                    </a:lnR>
                    <a:lnT>
                      <a:noFill/>
                    </a:lnT>
                    <a:lnB>
                      <a:noFill/>
                    </a:lnB>
                    <a:noFill/>
                  </a:tcPr>
                </a:tc>
                <a:tc>
                  <a:txBody>
                    <a:bodyPr/>
                    <a:lstStyle/>
                    <a:p>
                      <a:pPr>
                        <a:buNone/>
                      </a:pPr>
                      <a:r>
                        <a:rPr lang="en-US">
                          <a:latin typeface="Courier New" panose="02070309020205020404" pitchFamily="49" charset="0"/>
                        </a:rPr>
                        <a:t>Shortest distances from Clinic-1:</a:t>
                      </a:r>
                      <a:r>
                        <a:rPr lang="en-US"/>
                        <a:t> </a:t>
                      </a:r>
                      <a:r>
                        <a:rPr lang="en-US">
                          <a:latin typeface="Courier New" panose="02070309020205020404" pitchFamily="49" charset="0"/>
                        </a:rPr>
                        <a:t>To Clinic-2 : 4 km</a:t>
                      </a:r>
                      <a:r>
                        <a:rPr lang="en-US"/>
                        <a:t> </a:t>
                      </a:r>
                      <a:r>
                        <a:rPr lang="en-US">
                          <a:latin typeface="Courier New" panose="02070309020205020404" pitchFamily="49" charset="0"/>
                        </a:rPr>
                        <a:t>To Clinic-3 : 7 km</a:t>
                      </a:r>
                      <a:r>
                        <a:rPr lang="en-US"/>
                        <a:t> </a:t>
                      </a:r>
                      <a:r>
                        <a:rPr lang="en-US">
                          <a:latin typeface="Courier New" panose="02070309020205020404" pitchFamily="49" charset="0"/>
                        </a:rPr>
                        <a:t>To Clinic-4 : 9 km</a:t>
                      </a:r>
                      <a:r>
                        <a:rPr lang="en-US"/>
                        <a:t> </a:t>
                      </a:r>
                      <a:r>
                        <a:rPr lang="en-US">
                          <a:latin typeface="Courier New" panose="02070309020205020404" pitchFamily="49" charset="0"/>
                        </a:rPr>
                        <a:t>To Clinic-5 : 11 km</a:t>
                      </a:r>
                      <a:endParaRPr lang="en-US"/>
                    </a:p>
                  </a:txBody>
                  <a:tcPr anchor="ctr">
                    <a:lnL>
                      <a:noFill/>
                    </a:lnL>
                    <a:lnR>
                      <a:noFill/>
                    </a:lnR>
                    <a:lnT>
                      <a:noFill/>
                    </a:lnT>
                    <a:lnB>
                      <a:noFill/>
                    </a:lnB>
                    <a:noFill/>
                  </a:tcPr>
                </a:tc>
                <a:extLst>
                  <a:ext uri="{0D108BD9-81ED-4DB2-BD59-A6C34878D82A}">
                    <a16:rowId xmlns:a16="http://schemas.microsoft.com/office/drawing/2014/main" val="3177158089"/>
                  </a:ext>
                </a:extLst>
              </a:tr>
              <a:tr h="982055">
                <a:tc>
                  <a:txBody>
                    <a:bodyPr/>
                    <a:lstStyle/>
                    <a:p>
                      <a:pPr>
                        <a:buNone/>
                      </a:pPr>
                      <a:r>
                        <a:rPr lang="en-IN"/>
                        <a:t>Source: </a:t>
                      </a:r>
                      <a:r>
                        <a:rPr lang="en-IN">
                          <a:latin typeface="Courier New" panose="02070309020205020404" pitchFamily="49" charset="0"/>
                        </a:rPr>
                        <a:t>3</a:t>
                      </a:r>
                      <a:endParaRPr lang="en-IN"/>
                    </a:p>
                  </a:txBody>
                  <a:tcPr anchor="ctr">
                    <a:lnL>
                      <a:noFill/>
                    </a:lnL>
                    <a:lnR>
                      <a:noFill/>
                    </a:lnR>
                    <a:lnT>
                      <a:noFill/>
                    </a:lnT>
                    <a:lnB>
                      <a:noFill/>
                    </a:lnB>
                    <a:noFill/>
                  </a:tcPr>
                </a:tc>
                <a:tc>
                  <a:txBody>
                    <a:bodyPr/>
                    <a:lstStyle/>
                    <a:p>
                      <a:pPr>
                        <a:buNone/>
                      </a:pPr>
                      <a:r>
                        <a:rPr lang="en-IN" dirty="0">
                          <a:latin typeface="Courier New" panose="02070309020205020404" pitchFamily="49" charset="0"/>
                        </a:rPr>
                        <a:t>To Clinic-1 : 7 km</a:t>
                      </a:r>
                      <a:r>
                        <a:rPr lang="en-IN" dirty="0"/>
                        <a:t> </a:t>
                      </a:r>
                      <a:r>
                        <a:rPr lang="en-IN" dirty="0">
                          <a:latin typeface="Courier New" panose="02070309020205020404" pitchFamily="49" charset="0"/>
                        </a:rPr>
                        <a:t>To Clinic-2 : 3 km</a:t>
                      </a:r>
                      <a:r>
                        <a:rPr lang="en-IN" dirty="0"/>
                        <a:t> </a:t>
                      </a:r>
                      <a:r>
                        <a:rPr lang="en-IN" dirty="0">
                          <a:latin typeface="Courier New" panose="02070309020205020404" pitchFamily="49" charset="0"/>
                        </a:rPr>
                        <a:t>To Clinic-4 : 2 km</a:t>
                      </a:r>
                      <a:r>
                        <a:rPr lang="en-IN" dirty="0"/>
                        <a:t> </a:t>
                      </a:r>
                      <a:r>
                        <a:rPr lang="en-IN" dirty="0">
                          <a:latin typeface="Courier New" panose="02070309020205020404" pitchFamily="49" charset="0"/>
                        </a:rPr>
                        <a:t>To Clinic-5 : 5 km</a:t>
                      </a:r>
                      <a:endParaRPr lang="en-IN" dirty="0"/>
                    </a:p>
                  </a:txBody>
                  <a:tcPr anchor="ctr">
                    <a:lnL>
                      <a:noFill/>
                    </a:lnL>
                    <a:lnR>
                      <a:noFill/>
                    </a:lnR>
                    <a:lnT>
                      <a:noFill/>
                    </a:lnT>
                    <a:lnB>
                      <a:noFill/>
                    </a:lnB>
                    <a:noFill/>
                  </a:tcPr>
                </a:tc>
                <a:extLst>
                  <a:ext uri="{0D108BD9-81ED-4DB2-BD59-A6C34878D82A}">
                    <a16:rowId xmlns:a16="http://schemas.microsoft.com/office/drawing/2014/main" val="1268549123"/>
                  </a:ext>
                </a:extLst>
              </a:tr>
            </a:tbl>
          </a:graphicData>
        </a:graphic>
      </p:graphicFrame>
    </p:spTree>
    <p:extLst>
      <p:ext uri="{BB962C8B-B14F-4D97-AF65-F5344CB8AC3E}">
        <p14:creationId xmlns:p14="http://schemas.microsoft.com/office/powerpoint/2010/main" val="2500370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E1993-530A-F46F-7979-B9CA7A6B1FE5}"/>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81ACDF59-3A69-E224-1E7C-9054B7641FE8}"/>
              </a:ext>
            </a:extLst>
          </p:cNvPr>
          <p:cNvSpPr/>
          <p:nvPr/>
        </p:nvSpPr>
        <p:spPr>
          <a:xfrm>
            <a:off x="4572000" y="0"/>
            <a:ext cx="4572000" cy="5143500"/>
          </a:xfrm>
          <a:prstGeom prst="rect">
            <a:avLst/>
          </a:prstGeom>
          <a:solidFill>
            <a:srgbClr val="EAF4FB"/>
          </a:solidFill>
          <a:ln w="12700">
            <a:solidFill>
              <a:srgbClr val="02C39A"/>
            </a:solidFill>
            <a:prstDash val="solid"/>
          </a:ln>
        </p:spPr>
      </p:sp>
      <p:sp>
        <p:nvSpPr>
          <p:cNvPr id="4" name="Shape 6">
            <a:extLst>
              <a:ext uri="{FF2B5EF4-FFF2-40B4-BE49-F238E27FC236}">
                <a16:creationId xmlns:a16="http://schemas.microsoft.com/office/drawing/2014/main" id="{4C9A4861-8779-1A1C-FA1B-22D35D0E0F68}"/>
              </a:ext>
            </a:extLst>
          </p:cNvPr>
          <p:cNvSpPr/>
          <p:nvPr/>
        </p:nvSpPr>
        <p:spPr>
          <a:xfrm>
            <a:off x="0" y="-46652"/>
            <a:ext cx="4571999" cy="5190152"/>
          </a:xfrm>
          <a:prstGeom prst="rect">
            <a:avLst/>
          </a:prstGeom>
          <a:solidFill>
            <a:srgbClr val="FFF8E1"/>
          </a:solidFill>
          <a:ln w="12700">
            <a:solidFill>
              <a:srgbClr val="F7B731"/>
            </a:solidFill>
            <a:prstDash val="solid"/>
          </a:ln>
        </p:spPr>
        <p:txBody>
          <a:bodyPr/>
          <a:lstStyle/>
          <a:p>
            <a:endParaRPr lang="en-IN" dirty="0"/>
          </a:p>
        </p:txBody>
      </p:sp>
      <p:graphicFrame>
        <p:nvGraphicFramePr>
          <p:cNvPr id="9" name="Content Placeholder 8">
            <a:extLst>
              <a:ext uri="{FF2B5EF4-FFF2-40B4-BE49-F238E27FC236}">
                <a16:creationId xmlns:a16="http://schemas.microsoft.com/office/drawing/2014/main" id="{227ACC30-827D-E5D7-58E8-915EDA1E8C29}"/>
              </a:ext>
            </a:extLst>
          </p:cNvPr>
          <p:cNvGraphicFramePr>
            <a:graphicFrameLocks noGrp="1"/>
          </p:cNvGraphicFramePr>
          <p:nvPr>
            <p:ph idx="1"/>
            <p:extLst>
              <p:ext uri="{D42A27DB-BD31-4B8C-83A1-F6EECF244321}">
                <p14:modId xmlns:p14="http://schemas.microsoft.com/office/powerpoint/2010/main" val="42559395"/>
              </p:ext>
            </p:extLst>
          </p:nvPr>
        </p:nvGraphicFramePr>
        <p:xfrm>
          <a:off x="196850" y="336884"/>
          <a:ext cx="8610266" cy="4523874"/>
        </p:xfrm>
        <a:graphic>
          <a:graphicData uri="http://schemas.openxmlformats.org/drawingml/2006/table">
            <a:tbl>
              <a:tblPr/>
              <a:tblGrid>
                <a:gridCol w="4404026">
                  <a:extLst>
                    <a:ext uri="{9D8B030D-6E8A-4147-A177-3AD203B41FA5}">
                      <a16:colId xmlns:a16="http://schemas.microsoft.com/office/drawing/2014/main" val="2133217962"/>
                    </a:ext>
                  </a:extLst>
                </a:gridCol>
                <a:gridCol w="4206240">
                  <a:extLst>
                    <a:ext uri="{9D8B030D-6E8A-4147-A177-3AD203B41FA5}">
                      <a16:colId xmlns:a16="http://schemas.microsoft.com/office/drawing/2014/main" val="56797840"/>
                    </a:ext>
                  </a:extLst>
                </a:gridCol>
              </a:tblGrid>
              <a:tr h="685170">
                <a:tc>
                  <a:txBody>
                    <a:bodyPr/>
                    <a:lstStyle/>
                    <a:p>
                      <a:pPr>
                        <a:buNone/>
                      </a:pPr>
                      <a:r>
                        <a:rPr lang="en-IN" dirty="0"/>
                        <a:t>Input</a:t>
                      </a:r>
                    </a:p>
                  </a:txBody>
                  <a:tcPr anchor="ctr">
                    <a:lnL>
                      <a:noFill/>
                    </a:lnL>
                    <a:lnR>
                      <a:noFill/>
                    </a:lnR>
                    <a:lnT>
                      <a:noFill/>
                    </a:lnT>
                    <a:lnB>
                      <a:noFill/>
                    </a:lnB>
                    <a:noFill/>
                  </a:tcPr>
                </a:tc>
                <a:tc>
                  <a:txBody>
                    <a:bodyPr/>
                    <a:lstStyle/>
                    <a:p>
                      <a:pPr>
                        <a:buNone/>
                      </a:pPr>
                      <a:r>
                        <a:rPr lang="en-IN"/>
                        <a:t>Output</a:t>
                      </a:r>
                    </a:p>
                  </a:txBody>
                  <a:tcPr anchor="ctr">
                    <a:lnL>
                      <a:noFill/>
                    </a:lnL>
                    <a:lnR>
                      <a:noFill/>
                    </a:lnR>
                    <a:lnT>
                      <a:noFill/>
                    </a:lnT>
                    <a:lnB>
                      <a:noFill/>
                    </a:lnB>
                    <a:noFill/>
                  </a:tcPr>
                </a:tc>
                <a:extLst>
                  <a:ext uri="{0D108BD9-81ED-4DB2-BD59-A6C34878D82A}">
                    <a16:rowId xmlns:a16="http://schemas.microsoft.com/office/drawing/2014/main" val="197949900"/>
                  </a:ext>
                </a:extLst>
              </a:tr>
              <a:tr h="1873966">
                <a:tc>
                  <a:txBody>
                    <a:bodyPr/>
                    <a:lstStyle/>
                    <a:p>
                      <a:pPr>
                        <a:buNone/>
                      </a:pPr>
                      <a:r>
                        <a:rPr lang="en-US" dirty="0"/>
                        <a:t>Module: </a:t>
                      </a:r>
                      <a:r>
                        <a:rPr lang="en-US" dirty="0">
                          <a:latin typeface="Courier New" panose="02070309020205020404" pitchFamily="49" charset="0"/>
                        </a:rPr>
                        <a:t>3</a:t>
                      </a:r>
                      <a:r>
                        <a:rPr lang="en-US" dirty="0"/>
                        <a:t> → Graphs → </a:t>
                      </a:r>
                      <a:r>
                        <a:rPr lang="en-US" dirty="0">
                          <a:latin typeface="Courier New" panose="02070309020205020404" pitchFamily="49" charset="0"/>
                        </a:rPr>
                        <a:t>1</a:t>
                      </a:r>
                      <a:r>
                        <a:rPr lang="en-US" dirty="0"/>
                        <a:t> (BFS) → Start Clinic: </a:t>
                      </a:r>
                      <a:r>
                        <a:rPr lang="en-US" dirty="0">
                          <a:latin typeface="Courier New" panose="02070309020205020404" pitchFamily="49" charset="0"/>
                        </a:rPr>
                        <a:t>1</a:t>
                      </a:r>
                      <a:endParaRPr lang="en-US" dirty="0"/>
                    </a:p>
                  </a:txBody>
                  <a:tcPr anchor="ctr">
                    <a:lnL>
                      <a:noFill/>
                    </a:lnL>
                    <a:lnR>
                      <a:noFill/>
                    </a:lnR>
                    <a:lnT>
                      <a:noFill/>
                    </a:lnT>
                    <a:lnB>
                      <a:noFill/>
                    </a:lnB>
                    <a:noFill/>
                  </a:tcPr>
                </a:tc>
                <a:tc>
                  <a:txBody>
                    <a:bodyPr/>
                    <a:lstStyle/>
                    <a:p>
                      <a:pPr>
                        <a:buNone/>
                      </a:pPr>
                      <a:r>
                        <a:rPr lang="en-IN" dirty="0">
                          <a:latin typeface="Courier New" panose="02070309020205020404" pitchFamily="49" charset="0"/>
                        </a:rPr>
                        <a:t>BFS from Clinic-1:</a:t>
                      </a:r>
                      <a:r>
                        <a:rPr lang="en-IN" dirty="0"/>
                        <a:t> </a:t>
                      </a:r>
                      <a:r>
                        <a:rPr lang="en-IN" dirty="0">
                          <a:latin typeface="Courier New" panose="02070309020205020404" pitchFamily="49" charset="0"/>
                        </a:rPr>
                        <a:t>Clinic-1 → 0 hops</a:t>
                      </a:r>
                      <a:r>
                        <a:rPr lang="en-IN" dirty="0"/>
                        <a:t> </a:t>
                      </a:r>
                      <a:r>
                        <a:rPr lang="en-IN" dirty="0">
                          <a:latin typeface="Courier New" panose="02070309020205020404" pitchFamily="49" charset="0"/>
                        </a:rPr>
                        <a:t>Clinic-2 → 1 hop</a:t>
                      </a:r>
                      <a:r>
                        <a:rPr lang="en-IN" dirty="0"/>
                        <a:t> </a:t>
                      </a:r>
                      <a:r>
                        <a:rPr lang="en-IN" dirty="0">
                          <a:latin typeface="Courier New" panose="02070309020205020404" pitchFamily="49" charset="0"/>
                        </a:rPr>
                        <a:t>Clinic-3 → 1 hop</a:t>
                      </a:r>
                      <a:r>
                        <a:rPr lang="en-IN" dirty="0"/>
                        <a:t> </a:t>
                      </a:r>
                      <a:r>
                        <a:rPr lang="en-IN" dirty="0">
                          <a:latin typeface="Courier New" panose="02070309020205020404" pitchFamily="49" charset="0"/>
                        </a:rPr>
                        <a:t>Clinic-4 → 2 hops</a:t>
                      </a:r>
                      <a:r>
                        <a:rPr lang="en-IN" dirty="0"/>
                        <a:t> </a:t>
                      </a:r>
                      <a:r>
                        <a:rPr lang="en-IN" dirty="0">
                          <a:latin typeface="Courier New" panose="02070309020205020404" pitchFamily="49" charset="0"/>
                        </a:rPr>
                        <a:t>Clinic-5 → 2 hops</a:t>
                      </a:r>
                      <a:endParaRPr lang="en-IN" dirty="0"/>
                    </a:p>
                  </a:txBody>
                  <a:tcPr anchor="ctr">
                    <a:lnL>
                      <a:noFill/>
                    </a:lnL>
                    <a:lnR>
                      <a:noFill/>
                    </a:lnR>
                    <a:lnT>
                      <a:noFill/>
                    </a:lnT>
                    <a:lnB>
                      <a:noFill/>
                    </a:lnB>
                    <a:noFill/>
                  </a:tcPr>
                </a:tc>
                <a:extLst>
                  <a:ext uri="{0D108BD9-81ED-4DB2-BD59-A6C34878D82A}">
                    <a16:rowId xmlns:a16="http://schemas.microsoft.com/office/drawing/2014/main" val="3177158089"/>
                  </a:ext>
                </a:extLst>
              </a:tr>
              <a:tr h="685170">
                <a:tc>
                  <a:txBody>
                    <a:bodyPr/>
                    <a:lstStyle/>
                    <a:p>
                      <a:pPr>
                        <a:buNone/>
                      </a:pPr>
                      <a:r>
                        <a:rPr lang="en-IN" dirty="0"/>
                        <a:t>Module: </a:t>
                      </a:r>
                      <a:r>
                        <a:rPr lang="en-IN" dirty="0">
                          <a:latin typeface="Courier New" panose="02070309020205020404" pitchFamily="49" charset="0"/>
                        </a:rPr>
                        <a:t>5</a:t>
                      </a:r>
                      <a:r>
                        <a:rPr lang="en-IN" dirty="0"/>
                        <a:t> → Sorting → </a:t>
                      </a:r>
                      <a:r>
                        <a:rPr lang="en-IN" dirty="0">
                          <a:latin typeface="Courier New" panose="02070309020205020404" pitchFamily="49" charset="0"/>
                        </a:rPr>
                        <a:t>1</a:t>
                      </a:r>
                      <a:r>
                        <a:rPr lang="en-IN" dirty="0"/>
                        <a:t> (Merge Sort)</a:t>
                      </a:r>
                    </a:p>
                  </a:txBody>
                  <a:tcPr anchor="ctr">
                    <a:lnL>
                      <a:noFill/>
                    </a:lnL>
                    <a:lnR>
                      <a:noFill/>
                    </a:lnR>
                    <a:lnT>
                      <a:noFill/>
                    </a:lnT>
                    <a:lnB>
                      <a:noFill/>
                    </a:lnB>
                    <a:noFill/>
                  </a:tcPr>
                </a:tc>
                <a:tc>
                  <a:txBody>
                    <a:bodyPr/>
                    <a:lstStyle/>
                    <a:p>
                      <a:pPr>
                        <a:buNone/>
                      </a:pPr>
                      <a:r>
                        <a:rPr lang="en-IN" dirty="0">
                          <a:latin typeface="Courier New" panose="02070309020205020404" pitchFamily="49" charset="0"/>
                        </a:rPr>
                        <a:t>Before Sort:</a:t>
                      </a:r>
                      <a:r>
                        <a:rPr lang="en-IN" dirty="0"/>
                        <a:t> `Surgery-A ₹5000</a:t>
                      </a:r>
                    </a:p>
                  </a:txBody>
                  <a:tcPr anchor="ctr">
                    <a:lnL>
                      <a:noFill/>
                    </a:lnL>
                    <a:lnR>
                      <a:noFill/>
                    </a:lnR>
                    <a:lnT>
                      <a:noFill/>
                    </a:lnT>
                    <a:lnB>
                      <a:noFill/>
                    </a:lnB>
                    <a:noFill/>
                  </a:tcPr>
                </a:tc>
                <a:extLst>
                  <a:ext uri="{0D108BD9-81ED-4DB2-BD59-A6C34878D82A}">
                    <a16:rowId xmlns:a16="http://schemas.microsoft.com/office/drawing/2014/main" val="1268549123"/>
                  </a:ext>
                </a:extLst>
              </a:tr>
              <a:tr h="1279568">
                <a:tc>
                  <a:txBody>
                    <a:bodyPr/>
                    <a:lstStyle/>
                    <a:p>
                      <a:pPr>
                        <a:buNone/>
                      </a:pPr>
                      <a:endParaRPr lang="en-US" dirty="0"/>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953943309"/>
                  </a:ext>
                </a:extLst>
              </a:tr>
            </a:tbl>
          </a:graphicData>
        </a:graphic>
      </p:graphicFrame>
    </p:spTree>
    <p:extLst>
      <p:ext uri="{BB962C8B-B14F-4D97-AF65-F5344CB8AC3E}">
        <p14:creationId xmlns:p14="http://schemas.microsoft.com/office/powerpoint/2010/main" val="767024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3D3C8-2565-FAA4-0DC2-61FE06B3A7F9}"/>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BD22A08C-C591-A9CE-4499-78490F9DA4C9}"/>
              </a:ext>
            </a:extLst>
          </p:cNvPr>
          <p:cNvSpPr/>
          <p:nvPr/>
        </p:nvSpPr>
        <p:spPr>
          <a:xfrm>
            <a:off x="4572000" y="0"/>
            <a:ext cx="4572000" cy="5143500"/>
          </a:xfrm>
          <a:prstGeom prst="rect">
            <a:avLst/>
          </a:prstGeom>
          <a:solidFill>
            <a:srgbClr val="EAF4FB"/>
          </a:solidFill>
          <a:ln w="12700">
            <a:solidFill>
              <a:srgbClr val="02C39A"/>
            </a:solidFill>
            <a:prstDash val="solid"/>
          </a:ln>
        </p:spPr>
      </p:sp>
      <p:sp>
        <p:nvSpPr>
          <p:cNvPr id="4" name="Shape 6">
            <a:extLst>
              <a:ext uri="{FF2B5EF4-FFF2-40B4-BE49-F238E27FC236}">
                <a16:creationId xmlns:a16="http://schemas.microsoft.com/office/drawing/2014/main" id="{150DA524-92DC-DFD0-C79D-0D409FAC8645}"/>
              </a:ext>
            </a:extLst>
          </p:cNvPr>
          <p:cNvSpPr/>
          <p:nvPr/>
        </p:nvSpPr>
        <p:spPr>
          <a:xfrm>
            <a:off x="0" y="-46652"/>
            <a:ext cx="4571999" cy="5190152"/>
          </a:xfrm>
          <a:prstGeom prst="rect">
            <a:avLst/>
          </a:prstGeom>
          <a:solidFill>
            <a:srgbClr val="FFF8E1"/>
          </a:solidFill>
          <a:ln w="12700">
            <a:solidFill>
              <a:srgbClr val="F7B731"/>
            </a:solidFill>
            <a:prstDash val="solid"/>
          </a:ln>
        </p:spPr>
        <p:txBody>
          <a:bodyPr/>
          <a:lstStyle/>
          <a:p>
            <a:endParaRPr lang="en-IN" dirty="0"/>
          </a:p>
        </p:txBody>
      </p:sp>
      <p:graphicFrame>
        <p:nvGraphicFramePr>
          <p:cNvPr id="9" name="Content Placeholder 8">
            <a:extLst>
              <a:ext uri="{FF2B5EF4-FFF2-40B4-BE49-F238E27FC236}">
                <a16:creationId xmlns:a16="http://schemas.microsoft.com/office/drawing/2014/main" id="{A450C30E-CBAE-3D23-596E-50ED37DCA42A}"/>
              </a:ext>
            </a:extLst>
          </p:cNvPr>
          <p:cNvGraphicFramePr>
            <a:graphicFrameLocks noGrp="1"/>
          </p:cNvGraphicFramePr>
          <p:nvPr>
            <p:ph idx="1"/>
            <p:extLst>
              <p:ext uri="{D42A27DB-BD31-4B8C-83A1-F6EECF244321}">
                <p14:modId xmlns:p14="http://schemas.microsoft.com/office/powerpoint/2010/main" val="3861011026"/>
              </p:ext>
            </p:extLst>
          </p:nvPr>
        </p:nvGraphicFramePr>
        <p:xfrm>
          <a:off x="196850" y="336884"/>
          <a:ext cx="8610266" cy="2559136"/>
        </p:xfrm>
        <a:graphic>
          <a:graphicData uri="http://schemas.openxmlformats.org/drawingml/2006/table">
            <a:tbl>
              <a:tblPr/>
              <a:tblGrid>
                <a:gridCol w="4404026">
                  <a:extLst>
                    <a:ext uri="{9D8B030D-6E8A-4147-A177-3AD203B41FA5}">
                      <a16:colId xmlns:a16="http://schemas.microsoft.com/office/drawing/2014/main" val="2133217962"/>
                    </a:ext>
                  </a:extLst>
                </a:gridCol>
                <a:gridCol w="4206240">
                  <a:extLst>
                    <a:ext uri="{9D8B030D-6E8A-4147-A177-3AD203B41FA5}">
                      <a16:colId xmlns:a16="http://schemas.microsoft.com/office/drawing/2014/main" val="56797840"/>
                    </a:ext>
                  </a:extLst>
                </a:gridCol>
              </a:tblGrid>
              <a:tr h="1279568">
                <a:tc>
                  <a:txBody>
                    <a:bodyPr/>
                    <a:lstStyle/>
                    <a:p>
                      <a:pPr>
                        <a:buNone/>
                      </a:pPr>
                      <a:r>
                        <a:rPr lang="en-IN" dirty="0"/>
                        <a:t>Input</a:t>
                      </a:r>
                    </a:p>
                  </a:txBody>
                  <a:tcPr anchor="ctr">
                    <a:lnL>
                      <a:noFill/>
                    </a:lnL>
                    <a:lnR>
                      <a:noFill/>
                    </a:lnR>
                    <a:lnT>
                      <a:noFill/>
                    </a:lnT>
                    <a:lnB>
                      <a:noFill/>
                    </a:lnB>
                    <a:noFill/>
                  </a:tcPr>
                </a:tc>
                <a:tc>
                  <a:txBody>
                    <a:bodyPr/>
                    <a:lstStyle/>
                    <a:p>
                      <a:pPr>
                        <a:buNone/>
                      </a:pPr>
                      <a:r>
                        <a:rPr lang="en-IN" dirty="0"/>
                        <a:t>Output</a:t>
                      </a:r>
                    </a:p>
                  </a:txBody>
                  <a:tcPr anchor="ctr">
                    <a:lnL>
                      <a:noFill/>
                    </a:lnL>
                    <a:lnR>
                      <a:noFill/>
                    </a:lnR>
                    <a:lnT>
                      <a:noFill/>
                    </a:lnT>
                    <a:lnB>
                      <a:noFill/>
                    </a:lnB>
                    <a:noFill/>
                  </a:tcPr>
                </a:tc>
                <a:extLst>
                  <a:ext uri="{0D108BD9-81ED-4DB2-BD59-A6C34878D82A}">
                    <a16:rowId xmlns:a16="http://schemas.microsoft.com/office/drawing/2014/main" val="953943309"/>
                  </a:ext>
                </a:extLst>
              </a:tr>
              <a:tr h="1279568">
                <a:tc>
                  <a:txBody>
                    <a:bodyPr/>
                    <a:lstStyle/>
                    <a:p>
                      <a:pPr>
                        <a:buNone/>
                      </a:pPr>
                      <a:r>
                        <a:rPr lang="en-US"/>
                        <a:t>Module: </a:t>
                      </a:r>
                      <a:r>
                        <a:rPr lang="en-US">
                          <a:latin typeface="Courier New" panose="02070309020205020404" pitchFamily="49" charset="0"/>
                        </a:rPr>
                        <a:t>2</a:t>
                      </a:r>
                      <a:r>
                        <a:rPr lang="en-US"/>
                        <a:t> → Multiway Trees → </a:t>
                      </a:r>
                      <a:r>
                        <a:rPr lang="en-US">
                          <a:latin typeface="Courier New" panose="02070309020205020404" pitchFamily="49" charset="0"/>
                        </a:rPr>
                        <a:t>3</a:t>
                      </a:r>
                      <a:r>
                        <a:rPr lang="en-US"/>
                        <a:t> (B+ Tree Range Query) → From ID: </a:t>
                      </a:r>
                      <a:r>
                        <a:rPr lang="en-US">
                          <a:latin typeface="Courier New" panose="02070309020205020404" pitchFamily="49" charset="0"/>
                        </a:rPr>
                        <a:t>105</a:t>
                      </a:r>
                      <a:r>
                        <a:rPr lang="en-US"/>
                        <a:t> → To ID: </a:t>
                      </a:r>
                      <a:r>
                        <a:rPr lang="en-US">
                          <a:latin typeface="Courier New" panose="02070309020205020404" pitchFamily="49" charset="0"/>
                        </a:rPr>
                        <a:t>110</a:t>
                      </a:r>
                      <a:endParaRPr lang="en-US"/>
                    </a:p>
                  </a:txBody>
                  <a:tcPr anchor="ctr">
                    <a:lnL>
                      <a:noFill/>
                    </a:lnL>
                    <a:lnR>
                      <a:noFill/>
                    </a:lnR>
                    <a:lnT>
                      <a:noFill/>
                    </a:lnT>
                    <a:lnB>
                      <a:noFill/>
                    </a:lnB>
                    <a:noFill/>
                  </a:tcPr>
                </a:tc>
                <a:tc>
                  <a:txBody>
                    <a:bodyPr/>
                    <a:lstStyle/>
                    <a:p>
                      <a:pPr>
                        <a:buNone/>
                      </a:pPr>
                      <a:r>
                        <a:rPr lang="en-US" dirty="0">
                          <a:latin typeface="Courier New" panose="02070309020205020404" pitchFamily="49" charset="0"/>
                        </a:rPr>
                        <a:t>B+ Tree Range Query [105 – 110]:</a:t>
                      </a:r>
                      <a:r>
                        <a:rPr lang="en-US" dirty="0"/>
                        <a:t> `ID=105</a:t>
                      </a:r>
                    </a:p>
                  </a:txBody>
                  <a:tcPr anchor="ctr">
                    <a:lnL>
                      <a:noFill/>
                    </a:lnL>
                    <a:lnR>
                      <a:noFill/>
                    </a:lnR>
                    <a:lnT>
                      <a:noFill/>
                    </a:lnT>
                    <a:lnB>
                      <a:noFill/>
                    </a:lnB>
                    <a:noFill/>
                  </a:tcPr>
                </a:tc>
                <a:extLst>
                  <a:ext uri="{0D108BD9-81ED-4DB2-BD59-A6C34878D82A}">
                    <a16:rowId xmlns:a16="http://schemas.microsoft.com/office/drawing/2014/main" val="2702691378"/>
                  </a:ext>
                </a:extLst>
              </a:tr>
            </a:tbl>
          </a:graphicData>
        </a:graphic>
      </p:graphicFrame>
    </p:spTree>
    <p:extLst>
      <p:ext uri="{BB962C8B-B14F-4D97-AF65-F5344CB8AC3E}">
        <p14:creationId xmlns:p14="http://schemas.microsoft.com/office/powerpoint/2010/main" val="1238575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EA26E-C401-B75C-B845-209544C7A399}"/>
            </a:ext>
          </a:extLst>
        </p:cNvPr>
        <p:cNvGrpSpPr/>
        <p:nvPr/>
      </p:nvGrpSpPr>
      <p:grpSpPr>
        <a:xfrm>
          <a:off x="0" y="0"/>
          <a:ext cx="0" cy="0"/>
          <a:chOff x="0" y="0"/>
          <a:chExt cx="0" cy="0"/>
        </a:xfrm>
      </p:grpSpPr>
      <p:sp>
        <p:nvSpPr>
          <p:cNvPr id="33" name="Shape 6">
            <a:extLst>
              <a:ext uri="{FF2B5EF4-FFF2-40B4-BE49-F238E27FC236}">
                <a16:creationId xmlns:a16="http://schemas.microsoft.com/office/drawing/2014/main" id="{EC4562F2-4D15-DAFE-DB86-CF826F0E1DC0}"/>
              </a:ext>
            </a:extLst>
          </p:cNvPr>
          <p:cNvSpPr/>
          <p:nvPr/>
        </p:nvSpPr>
        <p:spPr>
          <a:xfrm>
            <a:off x="164592" y="0"/>
            <a:ext cx="8979408" cy="5143500"/>
          </a:xfrm>
          <a:prstGeom prst="rect">
            <a:avLst/>
          </a:prstGeom>
          <a:solidFill>
            <a:srgbClr val="FFF8E1"/>
          </a:solidFill>
          <a:ln w="12700">
            <a:solidFill>
              <a:srgbClr val="F7B731"/>
            </a:solidFill>
            <a:prstDash val="solid"/>
          </a:ln>
        </p:spPr>
        <p:txBody>
          <a:bodyPr/>
          <a:lstStyle/>
          <a:p>
            <a:br>
              <a:rPr lang="en-US" dirty="0"/>
            </a:br>
            <a:endParaRPr lang="en-IN" dirty="0"/>
          </a:p>
        </p:txBody>
      </p:sp>
      <p:sp>
        <p:nvSpPr>
          <p:cNvPr id="2" name="Shape 0">
            <a:extLst>
              <a:ext uri="{FF2B5EF4-FFF2-40B4-BE49-F238E27FC236}">
                <a16:creationId xmlns:a16="http://schemas.microsoft.com/office/drawing/2014/main" id="{51B03C82-A85E-2967-073D-FE6F4CADDB73}"/>
              </a:ext>
            </a:extLst>
          </p:cNvPr>
          <p:cNvSpPr/>
          <p:nvPr/>
        </p:nvSpPr>
        <p:spPr>
          <a:xfrm>
            <a:off x="0" y="0"/>
            <a:ext cx="164592" cy="5143500"/>
          </a:xfrm>
          <a:prstGeom prst="rect">
            <a:avLst/>
          </a:prstGeom>
          <a:solidFill>
            <a:srgbClr val="02C39A"/>
          </a:solidFill>
          <a:ln w="12700">
            <a:solidFill>
              <a:srgbClr val="02C39A"/>
            </a:solidFill>
            <a:prstDash val="solid"/>
          </a:ln>
        </p:spPr>
      </p:sp>
      <p:sp>
        <p:nvSpPr>
          <p:cNvPr id="6" name="TextBox 5">
            <a:extLst>
              <a:ext uri="{FF2B5EF4-FFF2-40B4-BE49-F238E27FC236}">
                <a16:creationId xmlns:a16="http://schemas.microsoft.com/office/drawing/2014/main" id="{15BA5462-5658-BF5C-C969-59A7B4025915}"/>
              </a:ext>
            </a:extLst>
          </p:cNvPr>
          <p:cNvSpPr txBox="1"/>
          <p:nvPr/>
        </p:nvSpPr>
        <p:spPr>
          <a:xfrm>
            <a:off x="441559" y="2571750"/>
            <a:ext cx="6855594" cy="2400657"/>
          </a:xfrm>
          <a:prstGeom prst="rect">
            <a:avLst/>
          </a:prstGeom>
          <a:noFill/>
        </p:spPr>
        <p:txBody>
          <a:bodyPr wrap="square">
            <a:spAutoFit/>
          </a:bodyPr>
          <a:lstStyle/>
          <a:p>
            <a:pPr>
              <a:buNone/>
            </a:pPr>
            <a:r>
              <a:rPr lang="en-US" sz="2400" b="1" dirty="0">
                <a:solidFill>
                  <a:srgbClr val="C00000"/>
                </a:solidFill>
              </a:rPr>
              <a:t>Future Advancements</a:t>
            </a:r>
            <a:endParaRPr lang="en-US" sz="2400" dirty="0">
              <a:solidFill>
                <a:srgbClr val="C00000"/>
              </a:solidFill>
            </a:endParaRPr>
          </a:p>
          <a:p>
            <a:pPr>
              <a:buNone/>
            </a:pPr>
            <a:r>
              <a:rPr lang="en-US" b="1" dirty="0"/>
              <a:t>Greedy &amp; Dynamic Programming (M6 — Planned)</a:t>
            </a:r>
            <a:endParaRPr lang="en-US" dirty="0"/>
          </a:p>
          <a:p>
            <a:pPr>
              <a:buNone/>
            </a:pPr>
            <a:r>
              <a:rPr lang="en-US" b="1" dirty="0"/>
              <a:t>Database Integration</a:t>
            </a:r>
            <a:endParaRPr lang="en-US" dirty="0"/>
          </a:p>
          <a:p>
            <a:pPr>
              <a:buNone/>
            </a:pPr>
            <a:r>
              <a:rPr lang="en-US" b="1" dirty="0"/>
              <a:t>GUI / Web Interface</a:t>
            </a:r>
            <a:endParaRPr lang="en-US" dirty="0"/>
          </a:p>
          <a:p>
            <a:pPr>
              <a:buNone/>
            </a:pPr>
            <a:r>
              <a:rPr lang="en-US" b="1" dirty="0"/>
              <a:t>Machine Learning Integration</a:t>
            </a:r>
            <a:endParaRPr lang="en-US" dirty="0"/>
          </a:p>
          <a:p>
            <a:pPr>
              <a:buNone/>
            </a:pPr>
            <a:r>
              <a:rPr lang="en-US" b="1" dirty="0"/>
              <a:t>Real-Time Clinic Routing</a:t>
            </a:r>
            <a:endParaRPr lang="en-US" dirty="0"/>
          </a:p>
          <a:p>
            <a:pPr>
              <a:buNone/>
            </a:pPr>
            <a:r>
              <a:rPr lang="en-US" b="1" dirty="0"/>
              <a:t>Multi-User &amp; Role-Based Access</a:t>
            </a:r>
            <a:endParaRPr lang="en-US" dirty="0"/>
          </a:p>
          <a:p>
            <a:pPr>
              <a:buNone/>
            </a:pPr>
            <a:r>
              <a:rPr lang="en-US" b="1" dirty="0"/>
              <a:t>Mobile Application</a:t>
            </a:r>
            <a:endParaRPr lang="en-US" dirty="0"/>
          </a:p>
        </p:txBody>
      </p:sp>
      <p:sp>
        <p:nvSpPr>
          <p:cNvPr id="7" name="TextBox 6">
            <a:extLst>
              <a:ext uri="{FF2B5EF4-FFF2-40B4-BE49-F238E27FC236}">
                <a16:creationId xmlns:a16="http://schemas.microsoft.com/office/drawing/2014/main" id="{B792A3E0-0D3F-6A57-34E6-1CDF06397A80}"/>
              </a:ext>
            </a:extLst>
          </p:cNvPr>
          <p:cNvSpPr txBox="1"/>
          <p:nvPr/>
        </p:nvSpPr>
        <p:spPr>
          <a:xfrm>
            <a:off x="441559" y="206029"/>
            <a:ext cx="8702440" cy="2677656"/>
          </a:xfrm>
          <a:prstGeom prst="rect">
            <a:avLst/>
          </a:prstGeom>
          <a:noFill/>
        </p:spPr>
        <p:txBody>
          <a:bodyPr wrap="square">
            <a:spAutoFit/>
          </a:bodyPr>
          <a:lstStyle/>
          <a:p>
            <a:r>
              <a:rPr lang="en-US" sz="2400" b="1" dirty="0">
                <a:solidFill>
                  <a:srgbClr val="C00000"/>
                </a:solidFill>
              </a:rPr>
              <a:t>Conclusion</a:t>
            </a:r>
          </a:p>
          <a:p>
            <a:endParaRPr lang="en-US" dirty="0"/>
          </a:p>
          <a:p>
            <a:r>
              <a:rPr lang="en-US" dirty="0"/>
              <a:t>PetCare successfully applies six DSA modules  Trees, Multiway Trees, Graphs, Shortest Paths, Sorting, and Greedy/DP to real veterinary clinic problems like pet record indexing, inter-clinic routing, and appointment scheduling within a single cohesive Java CLI system. It bridges the gap between theoretical data structures and practical software, demonstrating that algorithms like AVL, Dijkstra, and Merge Sort directly solve real-world clinical challenges.</a:t>
            </a:r>
          </a:p>
          <a:p>
            <a:pPr>
              <a:buNone/>
            </a:pPr>
            <a:endParaRPr lang="en-US" dirty="0"/>
          </a:p>
        </p:txBody>
      </p:sp>
    </p:spTree>
    <p:extLst>
      <p:ext uri="{BB962C8B-B14F-4D97-AF65-F5344CB8AC3E}">
        <p14:creationId xmlns:p14="http://schemas.microsoft.com/office/powerpoint/2010/main" val="2091943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607</TotalTime>
  <Words>1228</Words>
  <Application>Microsoft Office PowerPoint</Application>
  <PresentationFormat>On-screen Show (16:9)</PresentationFormat>
  <Paragraphs>197</Paragraphs>
  <Slides>14</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Technologies &amp; Tools Used</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PetCare – DSA Project Mid Review</dc:title>
  <dc:subject>PptxGenJS Presentation</dc:subject>
  <dc:creator>PptxGenJS</dc:creator>
  <cp:lastModifiedBy>sai nikhil vukka</cp:lastModifiedBy>
  <cp:revision>7</cp:revision>
  <dcterms:created xsi:type="dcterms:W3CDTF">2026-05-29T02:46:44Z</dcterms:created>
  <dcterms:modified xsi:type="dcterms:W3CDTF">2026-06-01T14:30:11Z</dcterms:modified>
</cp:coreProperties>
</file>