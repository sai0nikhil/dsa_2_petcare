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PetCare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D5E8F0"/>
                </a:solidFill>
                <a:latin typeface="Calibri"/>
              </a:rPr>
              <a:t>Smart Veterinary Clinic &amp; Pet Health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90672"/>
            <a:ext cx="109728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186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EE"/>
                </a:solidFill>
                <a:latin typeface="Calibri"/>
              </a:rPr>
              <a:t>Project #24   |   DSA2 Mid Review   |   50% Completion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40480"/>
            <a:ext cx="10972800" cy="2606040"/>
          </a:xfrm>
          <a:prstGeom prst="rect">
            <a:avLst/>
          </a:prstGeom>
          <a:solidFill>
            <a:srgbClr val="153355"/>
          </a:solidFill>
          <a:ln w="1905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502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9884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Sai Nikhil Vukka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4988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D5E8F0"/>
                </a:solidFill>
                <a:latin typeface="Calibri"/>
              </a:rPr>
              <a:t>Roll No: 2500032630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3892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G.V Sai Manikanta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1389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D5E8F0"/>
                </a:solidFill>
                <a:latin typeface="Calibri"/>
              </a:rPr>
              <a:t>Roll No: 2500080122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790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R.S.V.D.S Mohitswar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7790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D5E8F0"/>
                </a:solidFill>
                <a:latin typeface="Calibri"/>
              </a:rPr>
              <a:t>Roll No: 2500080124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  <a:latin typeface="Calibri"/>
              </a:rPr>
              <a:t>PetCare is a Java-based Command-Line application that models a real Veterinary Clinic and Pet Health Management System.
It demonstrates all six DSA modules through meaningful, domain-specific use-cases — from indexing pet medical records with AVL Trees to finding the shortest route between clinic branches using Dijkstra's algorithm.
At startup the user chooses between loading 45 pre-defined pet records from a CSV file or generating sample data on-the-fly, enabling a flexible and repeatable demonstration.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188720"/>
            <a:ext cx="4343400" cy="1600200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29844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5C99"/>
                </a:solidFill>
                <a:latin typeface="Calibri"/>
              </a:rPr>
              <a:t>📦  41 Java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4708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44"/>
                </a:solidFill>
                <a:latin typeface="Calibri"/>
              </a:rPr>
              <a:t>Spread across 7 well-separated packages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971800"/>
            <a:ext cx="4343400" cy="1600200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308152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5C99"/>
                </a:solidFill>
                <a:latin typeface="Calibri"/>
              </a:rPr>
              <a:t>🌳  9 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3016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44"/>
                </a:solidFill>
                <a:latin typeface="Calibri"/>
              </a:rPr>
              <a:t>BST · AVL · B-Tree · B+Tree · Seg · Fenwick · Graph · PQ · 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754880"/>
            <a:ext cx="4343400" cy="1600200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8646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5C99"/>
                </a:solidFill>
                <a:latin typeface="Calibri"/>
              </a:rPr>
              <a:t>🗺  6-Clinic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41324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44"/>
                </a:solidFill>
                <a:latin typeface="Calibri"/>
              </a:rPr>
              <a:t>Real weighted graph — BFS, DFS, MST, Dijkstra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440680" cy="5394960"/>
          </a:xfrm>
          <a:prstGeom prst="rect">
            <a:avLst/>
          </a:prstGeom>
          <a:solidFill>
            <a:srgbClr val="FFF0F0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72B2B"/>
                </a:solidFill>
                <a:latin typeface="Calibri"/>
              </a:rPr>
              <a:t>⚠  Challenges Without DSA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Linear search on pet records — O(n) every time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No route optimisation between clinic branches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Appointment overlaps not detected efficiently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No range queries on vaccination / visit data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Treatment records unsorted — hard to analyse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No structured indexing for large-scale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623560" cy="5394960"/>
          </a:xfrm>
          <a:prstGeom prst="rect">
            <a:avLst/>
          </a:prstGeom>
          <a:solidFill>
            <a:srgbClr val="F0F8F0"/>
          </a:solidFill>
          <a:ln w="12700">
            <a:solidFill>
              <a:srgbClr val="1B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A"/>
                </a:solidFill>
                <a:latin typeface="Calibri"/>
              </a:rPr>
              <a:t>✔  PetCare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AVL Tree — guaranteed O(log n) insert / search / delete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Dijkstra, Bellman-Ford, Floyd-Warshall — optimal routing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Activity Selection (Greedy) — max non-overlapping slots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B+ Tree + Segment Tree — fast range &amp; prefix queries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Merge Sort + Quick Sort — O(n log n) cost &amp; freq ranking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444444"/>
                </a:solidFill>
                <a:latin typeface="Calibri"/>
              </a:rPr>
              <a:t>•  CSV-based data loading — consistent 45-pet test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Java 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5577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A623"/>
                </a:solidFill>
                <a:latin typeface="Calibri"/>
              </a:rPr>
              <a:t>petcare/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170432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17043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 cls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09728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PetCareApp.java — main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F5C99"/>
                </a:solidFill>
                <a:latin typeface="Calibri"/>
              </a:rPr>
              <a:t>  models/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cls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5564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Pet · Treatment · Appointment · Vaccination · Clinic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1401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F5C99"/>
                </a:solidFill>
                <a:latin typeface="Calibri"/>
              </a:rPr>
              <a:t>  utils/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487168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48716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cls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414016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InputUtils · DisplayUtils · DataGenerator · AppData · CsvLoader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7238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F5C99"/>
                </a:solidFill>
                <a:latin typeface="Calibri"/>
              </a:rPr>
              <a:t>  menu/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145536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14553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 cls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072384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StartupMenu · MainMenu · TreesMenu · MultiwayMenu
  GraphMenu · ShortestPathMenu · SortingMenu · GreedyDPMenu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307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74A7E"/>
                </a:solidFill>
                <a:latin typeface="Calibri"/>
              </a:rPr>
              <a:t>  trees/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803904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80390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 cls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730752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BST · AVLTree · BTree · BPlusTree · SegmentTree · FenwickTree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74A7E"/>
                </a:solidFill>
                <a:latin typeface="Calibri"/>
              </a:rPr>
              <a:t>  graphs/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462272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46227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 cls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38912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Graph · BFS · DFS · MST · Dijkstra · BellmanFord
  FloydWarshall · TopologicalSort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4748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74A7E"/>
                </a:solidFill>
                <a:latin typeface="Calibri"/>
              </a:rPr>
              <a:t>  sorting/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5120640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512064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cls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047488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MergeSort · QuickSort · HeapSort · RadixSort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0585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74A7E"/>
                </a:solidFill>
                <a:latin typeface="Calibri"/>
              </a:rPr>
              <a:t>  algorithms/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5779008"/>
            <a:ext cx="68580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577900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cls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705856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ActivitySelection · FractionalKnapsack
  ZeroOneKnapsack · LIS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172200"/>
            <a:ext cx="11521440" cy="411480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996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5C99"/>
                </a:solidFill>
                <a:latin typeface="Calibri"/>
              </a:rPr>
              <a:t>data/pets.csv  —  45 pre-defined pet records (IDs 101–145) · loaded at startup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Classes, Methods &amp; Data Structures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10058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E8F0"/>
                </a:solidFill>
                <a:latin typeface="Calibri"/>
              </a:rPr>
              <a:t>Java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743200" cy="10058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150+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E8F0"/>
                </a:solidFill>
                <a:latin typeface="Calibri"/>
              </a:rPr>
              <a:t>Methods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2743200" cy="10058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005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E8F0"/>
                </a:solidFill>
                <a:latin typeface="Calibri"/>
              </a:rPr>
              <a:t>Data Structures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005840"/>
            <a:ext cx="2743200" cy="100584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005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5E8F0"/>
                </a:solidFill>
                <a:latin typeface="Calibri"/>
              </a:rPr>
              <a:t>CSV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21284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Data Structure  →  Where Used in PetCare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2651760"/>
          <a:ext cx="115214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9776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 Structure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Case in PetCare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BST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Pet record indexing — average O(log n) search/insert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AVL Tree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Balanced pet indexing — guaranteed O(log n) always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B-Tree (t=3)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Clinic record IDs — disk-friendly multiway indexing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B+ Tree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Vaccination schedule range queries (linked leaves)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Segment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Range sum of daily clinic visit 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Fenwick Tree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Cumulative treatment statistics with prefix sums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Graph (Adj.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M3+4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6-clinic healthcare network (BFS/DFS/MST/Dijkstra)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76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Priority Queue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Dijkstra — always pick minimum-cost next vertex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9777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5C99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Merge Sort &amp; Quick Sort on treatment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Real-World Relevance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🌳  AVL / BST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Linux kernel uses Red-Black Trees (AVL variant) for process scheduling. With 10 million pet records, AVL still answers in ~24 comparisons — O(log 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987552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789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🗄  B-Tree / B+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MySQL InnoDB &amp; PostgreSQL use B+ Trees for ALL table indexes. Our vaccination range query mirrors exactly how hospital DBs index patient records on disk.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62071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5351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📡  Graph + Dijkstra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2899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Google Maps &amp; Uber use Dijkstra / A* for routing. Our 6-clinic network is the same algorithm — scale the nodes to 10,000 clinics and it still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62071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53511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📊  Segment / Fenwick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2899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Used in stock trading platforms for real-time range queries and in competitive gaming leaderboards. Our daily visit-count range sum is the exact same pattern.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36590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82803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🔀  Merge Sort / Quick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30351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Java's Arrays.sort() uses Merge Sort for objects. C's qsort() uses Quick Sort. Our treatment-cost ranking is the same O(n log n) used in hospital billing systems.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736590"/>
            <a:ext cx="5760720" cy="1719072"/>
          </a:xfrm>
          <a:prstGeom prst="rect">
            <a:avLst/>
          </a:prstGeom>
          <a:solidFill>
            <a:srgbClr val="EBF3FB"/>
          </a:solidFill>
          <a:ln w="12700">
            <a:solidFill>
              <a:srgbClr val="D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2803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  <a:latin typeface="Calibri"/>
              </a:rPr>
              <a:t>📁  CSV + AppData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1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Mirrors real ETL pipelines: Read structured data → load into in-memory index → query efficiently. Used in every analytics, BI, and data warehouse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09728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5C99"/>
                </a:solidFill>
                <a:latin typeface="Calibri"/>
              </a:rPr>
              <a:t>Sample Input /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8755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8755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1498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Startup — CSV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0817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&gt; Choice [1-2]: 1
[OK] Loaded 45 pets from pets.csv
  1. Pet[ID=101, Bruno, Dog, Labrador]
  2. Pet[ID=102, Luna,  Cat, Persian ]
  ... and 40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98755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98755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01498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M1 — AVL Search &amp;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40817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&gt; PetID to search: 108
  AVL: Pet[ID=108, Daisy, Cat, Tabby]
  BST height : 7
  AVL height : 6  ← always balanced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90779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90779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9352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M3 — BFS Hop Distances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2841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&gt; Source: 0 (MainVet, Chennai)
  -&gt; MainVet    : 0 hops
  -&gt; PawCare    : 1 hop
  -&gt; AnimalAid  : 1 hop
  -&gt; PetHaven   : 2 hops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290779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290779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93522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M4 — Dijkstra Shortest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2841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&gt; Source: 0 (MainVet)
  -&gt; MainVet    :   0
  -&gt; PawCare    :  35
  -&gt; AnimalAid  :  63
  -&gt; HappyTails :  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482803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482803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85546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M5 — Merge Sort by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4865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  Before: [1450, 387, 920, 211, 780]
  After : [ 211, 387, 780, 920,1450]
  Stable sort · O(n log n) · used in
  hospital billing systems.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4828032"/>
            <a:ext cx="5806440" cy="1783080"/>
          </a:xfrm>
          <a:prstGeom prst="rect">
            <a:avLst/>
          </a:prstGeom>
          <a:solidFill>
            <a:srgbClr val="12121E"/>
          </a:solidFill>
          <a:ln w="1270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4828032"/>
            <a:ext cx="58064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855464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M6 — Coming Soon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48656"/>
            <a:ext cx="5577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E90"/>
                </a:solidFill>
                <a:latin typeface="Calibri"/>
              </a:rPr>
              <a:t>  +--------------------------------+
  |          COMING SOON           |
  |  Activity Selection            |
  |  0/1 Knapsack · LIS            |
  |  Outside current review scope  |
  +--------------------------------+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109728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What PetCare Achieves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6949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50">
                <a:solidFill>
                  <a:srgbClr val="CCE4FF"/>
                </a:solidFill>
                <a:latin typeface="Calibri"/>
              </a:rPr>
              <a:t>✦  All six DSA modules applied to a single real-world clinical domain</a:t>
            </a:r>
          </a:p>
          <a:p>
            <a:pPr>
              <a:spcBef>
                <a:spcPts val="800"/>
              </a:spcBef>
            </a:pPr>
            <a:r>
              <a:rPr sz="1450">
                <a:solidFill>
                  <a:srgbClr val="CCE4FF"/>
                </a:solidFill>
                <a:latin typeface="Calibri"/>
              </a:rPr>
              <a:t>✦  9 data structures: BST · AVL · B-Tree · B+Tree · Segment · Fenwick · Graph · PQ · Array</a:t>
            </a:r>
          </a:p>
          <a:p>
            <a:pPr>
              <a:spcBef>
                <a:spcPts val="800"/>
              </a:spcBef>
            </a:pPr>
            <a:r>
              <a:rPr sz="1450">
                <a:solidFill>
                  <a:srgbClr val="CCE4FF"/>
                </a:solidFill>
                <a:latin typeface="Calibri"/>
              </a:rPr>
              <a:t>✦  O(log n) indexing · O(n log n) sorting · O((V+E) log V) shortest paths</a:t>
            </a:r>
          </a:p>
          <a:p>
            <a:pPr>
              <a:spcBef>
                <a:spcPts val="800"/>
              </a:spcBef>
            </a:pPr>
            <a:r>
              <a:rPr sz="1450">
                <a:solidFill>
                  <a:srgbClr val="CCE4FF"/>
                </a:solidFill>
                <a:latin typeface="Calibri"/>
              </a:rPr>
              <a:t>✦  CSV-driven dataset: 45 consistent, traceable pet records (IDs 101–145)</a:t>
            </a:r>
          </a:p>
          <a:p>
            <a:pPr>
              <a:spcBef>
                <a:spcPts val="800"/>
              </a:spcBef>
            </a:pPr>
            <a:r>
              <a:rPr sz="1450">
                <a:solidFill>
                  <a:srgbClr val="CCE4FF"/>
                </a:solidFill>
                <a:latin typeface="Calibri"/>
              </a:rPr>
              <a:t>✦  Modules M1–M5 fully demo-ready · M6 (Greedy &amp; DP) — Coming Soon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74519"/>
            <a:ext cx="3977639" cy="4572000"/>
          </a:xfrm>
          <a:prstGeom prst="rect">
            <a:avLst/>
          </a:prstGeom>
          <a:solidFill>
            <a:srgbClr val="153355"/>
          </a:solidFill>
          <a:ln w="1905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06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Sai Nikhil Vukka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815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E8F0"/>
                </a:solidFill>
                <a:latin typeface="Calibri"/>
              </a:rPr>
              <a:t>2500032630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94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G.V Sai Manikanta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2702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E8F0"/>
                </a:solidFill>
                <a:latin typeface="Calibri"/>
              </a:rPr>
              <a:t>2500080122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983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R.S.V.D.S Mohitswar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589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E8F0"/>
                </a:solidFill>
                <a:latin typeface="Calibri"/>
              </a:rPr>
              <a:t>2500080124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88AA"/>
                </a:solidFill>
                <a:latin typeface="Calibri"/>
              </a:rPr>
              <a:t>Project #24   |   28-05-2026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